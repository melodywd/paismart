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4f1117b0a241a1" /><Relationship Type="http://schemas.openxmlformats.org/officeDocument/2006/relationships/extended-properties" Target="/docProps/app.xml" Id="Rb702157848704ba8" /><Relationship Type="http://schemas.openxmlformats.org/officeDocument/2006/relationships/officeDocument" Target="/ppt/presentation.xml" Id="Rd92ff7ad36b7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50e233484416d"/>
  </p:sldMasterIdLst>
  <p:notesMasterIdLst>
    <p:notesMasterId xmlns:r="http://schemas.openxmlformats.org/officeDocument/2006/relationships" r:id="Rd81da28c69ae4302"/>
  </p:notesMasterIdLst>
  <p:sldIdLst>
    <p:sldId xmlns:r="http://schemas.openxmlformats.org/officeDocument/2006/relationships" id="256" r:id="R51937016eef8467e"/>
    <p:sldId xmlns:r="http://schemas.openxmlformats.org/officeDocument/2006/relationships" id="257" r:id="Rbe76b515176a4997"/>
    <p:sldId xmlns:r="http://schemas.openxmlformats.org/officeDocument/2006/relationships" id="258" r:id="R8302f00e89fe419c"/>
    <p:sldId xmlns:r="http://schemas.openxmlformats.org/officeDocument/2006/relationships" id="259" r:id="R18a13240b7f5469f"/>
    <p:sldId xmlns:r="http://schemas.openxmlformats.org/officeDocument/2006/relationships" id="260" r:id="R11c7453bfc934b3d"/>
    <p:sldId xmlns:r="http://schemas.openxmlformats.org/officeDocument/2006/relationships" id="261" r:id="R71b9bf3eceb0409c"/>
    <p:sldId xmlns:r="http://schemas.openxmlformats.org/officeDocument/2006/relationships" id="262" r:id="R2aa6c97fe8be4fd6"/>
    <p:sldId xmlns:r="http://schemas.openxmlformats.org/officeDocument/2006/relationships" id="263" r:id="Rf22cac132f054a26"/>
    <p:sldId xmlns:r="http://schemas.openxmlformats.org/officeDocument/2006/relationships" id="264" r:id="R2565cce95fe54402"/>
    <p:sldId xmlns:r="http://schemas.openxmlformats.org/officeDocument/2006/relationships" id="265" r:id="Rbd5ffb454b0c4eb1"/>
    <p:sldId xmlns:r="http://schemas.openxmlformats.org/officeDocument/2006/relationships" id="266" r:id="R939407ba52ed457c"/>
    <p:sldId xmlns:r="http://schemas.openxmlformats.org/officeDocument/2006/relationships" id="267" r:id="R709a1054bf0b4b76"/>
    <p:sldId xmlns:r="http://schemas.openxmlformats.org/officeDocument/2006/relationships" id="268" r:id="Re58d7fd07f834c94"/>
    <p:sldId xmlns:r="http://schemas.openxmlformats.org/officeDocument/2006/relationships" id="269" r:id="R399310858e7f484d"/>
    <p:sldId xmlns:r="http://schemas.openxmlformats.org/officeDocument/2006/relationships" id="270" r:id="Ra1df9473eaaa464b"/>
    <p:sldId xmlns:r="http://schemas.openxmlformats.org/officeDocument/2006/relationships" id="271" r:id="R98780b9f298642e2"/>
    <p:sldId xmlns:r="http://schemas.openxmlformats.org/officeDocument/2006/relationships" id="272" r:id="Rae5141f66da14f96"/>
    <p:sldId xmlns:r="http://schemas.openxmlformats.org/officeDocument/2006/relationships" id="273" r:id="R057146ef5d5c4fe5"/>
    <p:sldId xmlns:r="http://schemas.openxmlformats.org/officeDocument/2006/relationships" id="274" r:id="Red549a586a3f4e9a"/>
    <p:sldId xmlns:r="http://schemas.openxmlformats.org/officeDocument/2006/relationships" id="275" r:id="R7ff5d41522b547a7"/>
    <p:sldId xmlns:r="http://schemas.openxmlformats.org/officeDocument/2006/relationships" id="276" r:id="R4593d112e25b403c"/>
    <p:sldId xmlns:r="http://schemas.openxmlformats.org/officeDocument/2006/relationships" id="277" r:id="Rbfa4593c93e64ca9"/>
    <p:sldId xmlns:r="http://schemas.openxmlformats.org/officeDocument/2006/relationships" id="278" r:id="R6bbbe08867584d9d"/>
    <p:sldId xmlns:r="http://schemas.openxmlformats.org/officeDocument/2006/relationships" id="279" r:id="R24d60b4a02974d0b"/>
    <p:sldId xmlns:r="http://schemas.openxmlformats.org/officeDocument/2006/relationships" id="280" r:id="Ra1c9b699e8464a83"/>
    <p:sldId xmlns:r="http://schemas.openxmlformats.org/officeDocument/2006/relationships" id="281" r:id="R8c83a5e307b849b7"/>
    <p:sldId xmlns:r="http://schemas.openxmlformats.org/officeDocument/2006/relationships" id="282" r:id="R5d58cdacab8c46aa"/>
    <p:sldId xmlns:r="http://schemas.openxmlformats.org/officeDocument/2006/relationships" id="283" r:id="Rda1d022dd58c44bb"/>
    <p:sldId xmlns:r="http://schemas.openxmlformats.org/officeDocument/2006/relationships" id="284" r:id="R1b5890b2a4a74849"/>
    <p:sldId xmlns:r="http://schemas.openxmlformats.org/officeDocument/2006/relationships" id="285" r:id="R4789e12cdaeb45cb"/>
    <p:sldId xmlns:r="http://schemas.openxmlformats.org/officeDocument/2006/relationships" id="286" r:id="R8f00761cf2274b00"/>
    <p:sldId xmlns:r="http://schemas.openxmlformats.org/officeDocument/2006/relationships" id="287" r:id="R9585c4684978471d"/>
    <p:sldId xmlns:r="http://schemas.openxmlformats.org/officeDocument/2006/relationships" id="288" r:id="R95674d28e6fa4f78"/>
    <p:sldId xmlns:r="http://schemas.openxmlformats.org/officeDocument/2006/relationships" id="289" r:id="Rb9d5640bba5e4b0d"/>
    <p:sldId xmlns:r="http://schemas.openxmlformats.org/officeDocument/2006/relationships" id="290" r:id="R913de6e4895d4504"/>
    <p:sldId xmlns:r="http://schemas.openxmlformats.org/officeDocument/2006/relationships" id="291" r:id="R42beab4bbe05492c"/>
    <p:sldId xmlns:r="http://schemas.openxmlformats.org/officeDocument/2006/relationships" id="292" r:id="R6bfaf16cf43b45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8b5e72dcb4678" /><Relationship Type="http://schemas.openxmlformats.org/officeDocument/2006/relationships/slideMaster" Target="/ppt/slideMasters/slideMaster1.xml" Id="R54450e233484416d" /><Relationship Type="http://schemas.openxmlformats.org/officeDocument/2006/relationships/notesMaster" Target="/ppt/notesMasters/notesMaster1.xml" Id="Rd81da28c69ae4302" /><Relationship Type="http://schemas.openxmlformats.org/officeDocument/2006/relationships/presProps" Target="/ppt/presProps.xml" Id="Rf4f18910a65f4eaf" /><Relationship Type="http://schemas.openxmlformats.org/officeDocument/2006/relationships/tableStyles" Target="/ppt/tableStyles.xml" Id="Rd30a998c7ebc414a" /><Relationship Type="http://schemas.openxmlformats.org/officeDocument/2006/relationships/slide" Target="/ppt/slides/slide1.xml" Id="R51937016eef8467e" /><Relationship Type="http://schemas.openxmlformats.org/officeDocument/2006/relationships/slide" Target="/ppt/slides/slide2.xml" Id="Rbe76b515176a4997" /><Relationship Type="http://schemas.openxmlformats.org/officeDocument/2006/relationships/slide" Target="/ppt/slides/slide3.xml" Id="R8302f00e89fe419c" /><Relationship Type="http://schemas.openxmlformats.org/officeDocument/2006/relationships/slide" Target="/ppt/slides/slide4.xml" Id="R18a13240b7f5469f" /><Relationship Type="http://schemas.openxmlformats.org/officeDocument/2006/relationships/slide" Target="/ppt/slides/slide5.xml" Id="R11c7453bfc934b3d" /><Relationship Type="http://schemas.openxmlformats.org/officeDocument/2006/relationships/slide" Target="/ppt/slides/slide6.xml" Id="R71b9bf3eceb0409c" /><Relationship Type="http://schemas.openxmlformats.org/officeDocument/2006/relationships/slide" Target="/ppt/slides/slide7.xml" Id="R2aa6c97fe8be4fd6" /><Relationship Type="http://schemas.openxmlformats.org/officeDocument/2006/relationships/slide" Target="/ppt/slides/slide8.xml" Id="Rf22cac132f054a26" /><Relationship Type="http://schemas.openxmlformats.org/officeDocument/2006/relationships/slide" Target="/ppt/slides/slide9.xml" Id="R2565cce95fe54402" /><Relationship Type="http://schemas.openxmlformats.org/officeDocument/2006/relationships/slide" Target="/ppt/slides/slide10.xml" Id="Rbd5ffb454b0c4eb1" /><Relationship Type="http://schemas.openxmlformats.org/officeDocument/2006/relationships/slide" Target="/ppt/slides/slide11.xml" Id="R939407ba52ed457c" /><Relationship Type="http://schemas.openxmlformats.org/officeDocument/2006/relationships/slide" Target="/ppt/slides/slide12.xml" Id="R709a1054bf0b4b76" /><Relationship Type="http://schemas.openxmlformats.org/officeDocument/2006/relationships/slide" Target="/ppt/slides/slide13.xml" Id="Re58d7fd07f834c94" /><Relationship Type="http://schemas.openxmlformats.org/officeDocument/2006/relationships/slide" Target="/ppt/slides/slide14.xml" Id="R399310858e7f484d" /><Relationship Type="http://schemas.openxmlformats.org/officeDocument/2006/relationships/slide" Target="/ppt/slides/slide15.xml" Id="Ra1df9473eaaa464b" /><Relationship Type="http://schemas.openxmlformats.org/officeDocument/2006/relationships/slide" Target="/ppt/slides/slide16.xml" Id="R98780b9f298642e2" /><Relationship Type="http://schemas.openxmlformats.org/officeDocument/2006/relationships/slide" Target="/ppt/slides/slide17.xml" Id="Rae5141f66da14f96" /><Relationship Type="http://schemas.openxmlformats.org/officeDocument/2006/relationships/slide" Target="/ppt/slides/slide18.xml" Id="R057146ef5d5c4fe5" /><Relationship Type="http://schemas.openxmlformats.org/officeDocument/2006/relationships/slide" Target="/ppt/slides/slide19.xml" Id="Red549a586a3f4e9a" /><Relationship Type="http://schemas.openxmlformats.org/officeDocument/2006/relationships/slide" Target="/ppt/slides/slide20.xml" Id="R7ff5d41522b547a7" /><Relationship Type="http://schemas.openxmlformats.org/officeDocument/2006/relationships/slide" Target="/ppt/slides/slide21.xml" Id="R4593d112e25b403c" /><Relationship Type="http://schemas.openxmlformats.org/officeDocument/2006/relationships/slide" Target="/ppt/slides/slide22.xml" Id="Rbfa4593c93e64ca9" /><Relationship Type="http://schemas.openxmlformats.org/officeDocument/2006/relationships/slide" Target="/ppt/slides/slide23.xml" Id="R6bbbe08867584d9d" /><Relationship Type="http://schemas.openxmlformats.org/officeDocument/2006/relationships/slide" Target="/ppt/slides/slide24.xml" Id="R24d60b4a02974d0b" /><Relationship Type="http://schemas.openxmlformats.org/officeDocument/2006/relationships/slide" Target="/ppt/slides/slide25.xml" Id="Ra1c9b699e8464a83" /><Relationship Type="http://schemas.openxmlformats.org/officeDocument/2006/relationships/slide" Target="/ppt/slides/slide26.xml" Id="R8c83a5e307b849b7" /><Relationship Type="http://schemas.openxmlformats.org/officeDocument/2006/relationships/slide" Target="/ppt/slides/slide27.xml" Id="R5d58cdacab8c46aa" /><Relationship Type="http://schemas.openxmlformats.org/officeDocument/2006/relationships/slide" Target="/ppt/slides/slide28.xml" Id="Rda1d022dd58c44bb" /><Relationship Type="http://schemas.openxmlformats.org/officeDocument/2006/relationships/slide" Target="/ppt/slides/slide29.xml" Id="R1b5890b2a4a74849" /><Relationship Type="http://schemas.openxmlformats.org/officeDocument/2006/relationships/slide" Target="/ppt/slides/slide30.xml" Id="R4789e12cdaeb45cb" /><Relationship Type="http://schemas.openxmlformats.org/officeDocument/2006/relationships/slide" Target="/ppt/slides/slide31.xml" Id="R8f00761cf2274b00" /><Relationship Type="http://schemas.openxmlformats.org/officeDocument/2006/relationships/slide" Target="/ppt/slides/slide32.xml" Id="R9585c4684978471d" /><Relationship Type="http://schemas.openxmlformats.org/officeDocument/2006/relationships/slide" Target="/ppt/slides/slide33.xml" Id="R95674d28e6fa4f78" /><Relationship Type="http://schemas.openxmlformats.org/officeDocument/2006/relationships/slide" Target="/ppt/slides/slide34.xml" Id="Rb9d5640bba5e4b0d" /><Relationship Type="http://schemas.openxmlformats.org/officeDocument/2006/relationships/slide" Target="/ppt/slides/slide35.xml" Id="R913de6e4895d4504" /><Relationship Type="http://schemas.openxmlformats.org/officeDocument/2006/relationships/slide" Target="/ppt/slides/slide36.xml" Id="R42beab4bbe05492c" /><Relationship Type="http://schemas.openxmlformats.org/officeDocument/2006/relationships/slide" Target="/ppt/slides/slide37.xml" Id="R6bfaf16cf43b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15c181e1348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bf613d7464269" /><Relationship Type="http://schemas.openxmlformats.org/officeDocument/2006/relationships/notesMaster" Target="/ppt/notesMasters/notesMaster1.xml" Id="R0bb67e4bbcc0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4ac454cde741b2" /><Relationship Type="http://schemas.openxmlformats.org/officeDocument/2006/relationships/notesMaster" Target="/ppt/notesMasters/notesMaster1.xml" Id="Rec91a32dc37a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c771dea1546af" /><Relationship Type="http://schemas.openxmlformats.org/officeDocument/2006/relationships/notesMaster" Target="/ppt/notesMasters/notesMaster1.xml" Id="Ra93610647213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adc75ae534ddf" /><Relationship Type="http://schemas.openxmlformats.org/officeDocument/2006/relationships/notesMaster" Target="/ppt/notesMasters/notesMaster1.xml" Id="R694e92d36c3f4c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076f9da6234c97" /><Relationship Type="http://schemas.openxmlformats.org/officeDocument/2006/relationships/notesMaster" Target="/ppt/notesMasters/notesMaster1.xml" Id="R383327cd45ac4f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64edd750d4dd8" /><Relationship Type="http://schemas.openxmlformats.org/officeDocument/2006/relationships/notesMaster" Target="/ppt/notesMasters/notesMaster1.xml" Id="R4a14ece01c304b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3813f581b54e0d" /><Relationship Type="http://schemas.openxmlformats.org/officeDocument/2006/relationships/notesMaster" Target="/ppt/notesMasters/notesMaster1.xml" Id="R2ff8a33f4bd546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b8eafe0cd4980" /><Relationship Type="http://schemas.openxmlformats.org/officeDocument/2006/relationships/notesMaster" Target="/ppt/notesMasters/notesMaster1.xml" Id="R79fdd6f4c33b4d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ba4d365e04ad9" /><Relationship Type="http://schemas.openxmlformats.org/officeDocument/2006/relationships/notesMaster" Target="/ppt/notesMasters/notesMaster1.xml" Id="Ra893e4c20300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e827107764db1" /><Relationship Type="http://schemas.openxmlformats.org/officeDocument/2006/relationships/notesMaster" Target="/ppt/notesMasters/notesMaster1.xml" Id="R3f37133f97d246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f123b2e6f4cf4" /><Relationship Type="http://schemas.openxmlformats.org/officeDocument/2006/relationships/notesMaster" Target="/ppt/notesMasters/notesMaster1.xml" Id="Re63c6febf8f549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1d758571e42a8" /><Relationship Type="http://schemas.openxmlformats.org/officeDocument/2006/relationships/notesMaster" Target="/ppt/notesMasters/notesMaster1.xml" Id="Rb1f7e064202146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16c9e84d084cbd" /><Relationship Type="http://schemas.openxmlformats.org/officeDocument/2006/relationships/notesMaster" Target="/ppt/notesMasters/notesMaster1.xml" Id="R1e06069627004e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88d2b681214ca7" /><Relationship Type="http://schemas.openxmlformats.org/officeDocument/2006/relationships/notesMaster" Target="/ppt/notesMasters/notesMaster1.xml" Id="Ra6f3f4e363914e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bf2c35d7fc497d" /><Relationship Type="http://schemas.openxmlformats.org/officeDocument/2006/relationships/notesMaster" Target="/ppt/notesMasters/notesMaster1.xml" Id="R4ec027d5de5445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9335ed2b3640ba" /><Relationship Type="http://schemas.openxmlformats.org/officeDocument/2006/relationships/notesMaster" Target="/ppt/notesMasters/notesMaster1.xml" Id="R76f3d12aa64a42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95bcfa078e4876" /><Relationship Type="http://schemas.openxmlformats.org/officeDocument/2006/relationships/notesMaster" Target="/ppt/notesMasters/notesMaster1.xml" Id="R4d820288cb3447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61c10bf7e944c7" /><Relationship Type="http://schemas.openxmlformats.org/officeDocument/2006/relationships/notesMaster" Target="/ppt/notesMasters/notesMaster1.xml" Id="Reff829702fea45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bcd0a4780a4f24" /><Relationship Type="http://schemas.openxmlformats.org/officeDocument/2006/relationships/notesMaster" Target="/ppt/notesMasters/notesMaster1.xml" Id="R05bf2a95e76848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c6241a622a4549" /><Relationship Type="http://schemas.openxmlformats.org/officeDocument/2006/relationships/notesMaster" Target="/ppt/notesMasters/notesMaster1.xml" Id="R965ad198d2e14a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6e23ad98d34607" /><Relationship Type="http://schemas.openxmlformats.org/officeDocument/2006/relationships/notesMaster" Target="/ppt/notesMasters/notesMaster1.xml" Id="R47985fc28f9040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10a7d7e9834186" /><Relationship Type="http://schemas.openxmlformats.org/officeDocument/2006/relationships/notesMaster" Target="/ppt/notesMasters/notesMaster1.xml" Id="R8b9198bdcf9540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447f427e894fc3" /><Relationship Type="http://schemas.openxmlformats.org/officeDocument/2006/relationships/notesMaster" Target="/ppt/notesMasters/notesMaster1.xml" Id="R5534ad9b57bf46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94e119b6f74a05" /><Relationship Type="http://schemas.openxmlformats.org/officeDocument/2006/relationships/notesMaster" Target="/ppt/notesMasters/notesMaster1.xml" Id="R312de98d0a0043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dcf0de8b0149ab" /><Relationship Type="http://schemas.openxmlformats.org/officeDocument/2006/relationships/notesMaster" Target="/ppt/notesMasters/notesMaster1.xml" Id="R047136acb2de4e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3ed2dc033146ed" /><Relationship Type="http://schemas.openxmlformats.org/officeDocument/2006/relationships/notesMaster" Target="/ppt/notesMasters/notesMaster1.xml" Id="R2f9ea1deb24549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fbecfd1fe74ad1" /><Relationship Type="http://schemas.openxmlformats.org/officeDocument/2006/relationships/notesMaster" Target="/ppt/notesMasters/notesMaster1.xml" Id="R74eeab2106ee4c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fd0b52f3244782" /><Relationship Type="http://schemas.openxmlformats.org/officeDocument/2006/relationships/notesMaster" Target="/ppt/notesMasters/notesMaster1.xml" Id="Rc4dc7b5531a34e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781e704fe34fa4" /><Relationship Type="http://schemas.openxmlformats.org/officeDocument/2006/relationships/notesMaster" Target="/ppt/notesMasters/notesMaster1.xml" Id="Rcbd0cb18865042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0f9bd94bdb48e4" /><Relationship Type="http://schemas.openxmlformats.org/officeDocument/2006/relationships/notesMaster" Target="/ppt/notesMasters/notesMaster1.xml" Id="Rbf7a3715f03f4b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9e8462fdc143da" /><Relationship Type="http://schemas.openxmlformats.org/officeDocument/2006/relationships/notesMaster" Target="/ppt/notesMasters/notesMaster1.xml" Id="Rb3d73a2135b64fc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9ff69efd2743cd" /><Relationship Type="http://schemas.openxmlformats.org/officeDocument/2006/relationships/notesMaster" Target="/ppt/notesMasters/notesMaster1.xml" Id="R1761eb88f35e4f7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1bebc1990414196" /><Relationship Type="http://schemas.openxmlformats.org/officeDocument/2006/relationships/notesMaster" Target="/ppt/notesMasters/notesMaster1.xml" Id="R07c771f4d60b434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440429355d649ef" /><Relationship Type="http://schemas.openxmlformats.org/officeDocument/2006/relationships/notesMaster" Target="/ppt/notesMasters/notesMaster1.xml" Id="R6bc852ec7b0e489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ce15aec2384721" /><Relationship Type="http://schemas.openxmlformats.org/officeDocument/2006/relationships/notesMaster" Target="/ppt/notesMasters/notesMaster1.xml" Id="R78fabd2bb25641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a5dac1ddff4024" /><Relationship Type="http://schemas.openxmlformats.org/officeDocument/2006/relationships/notesMaster" Target="/ppt/notesMasters/notesMaster1.xml" Id="Rd418072c6ef846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44f385a254744df" /><Relationship Type="http://schemas.openxmlformats.org/officeDocument/2006/relationships/notesMaster" Target="/ppt/notesMasters/notesMaster1.xml" Id="R45a8d55f8fed4e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5fe7b4e7d4a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029d1fd734a84" /><Relationship Type="http://schemas.openxmlformats.org/officeDocument/2006/relationships/slideLayout" Target="/ppt/slideLayouts/slideLayout1.xml" Id="R9ca3d4cc3876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a3d4cc3876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dce502d484e0f" /><Relationship Type="http://schemas.openxmlformats.org/officeDocument/2006/relationships/notesSlide" Target="/ppt/notesSlides/notesSlide1.xml" Id="R33f3679f0fa440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be374318549e7" /><Relationship Type="http://schemas.openxmlformats.org/officeDocument/2006/relationships/notesSlide" Target="/ppt/notesSlides/notesSlide2.xml" Id="R64f264b39e80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103533bc548d7" /><Relationship Type="http://schemas.openxmlformats.org/officeDocument/2006/relationships/image" Target="/ppt/media/image.png" Id="R9e4d4845d34b42ad" /><Relationship Type="http://schemas.openxmlformats.org/officeDocument/2006/relationships/notesSlide" Target="/ppt/notesSlides/notesSlide3.xml" Id="R0be46037d160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fb82d631452e" /><Relationship Type="http://schemas.openxmlformats.org/officeDocument/2006/relationships/notesSlide" Target="/ppt/notesSlides/notesSlide4.xml" Id="R7261547d601647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f15346ff34bed" /><Relationship Type="http://schemas.openxmlformats.org/officeDocument/2006/relationships/notesSlide" Target="/ppt/notesSlides/notesSlide5.xml" Id="R21321bbf270544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11419c52948a8" /><Relationship Type="http://schemas.openxmlformats.org/officeDocument/2006/relationships/notesSlide" Target="/ppt/notesSlides/notesSlide6.xml" Id="Rcc9e0dd0a64c43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a975badb34a4e" /><Relationship Type="http://schemas.openxmlformats.org/officeDocument/2006/relationships/notesSlide" Target="/ppt/notesSlides/notesSlide7.xml" Id="R0c546525732b42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a9f39a584ca1" /><Relationship Type="http://schemas.openxmlformats.org/officeDocument/2006/relationships/notesSlide" Target="/ppt/notesSlides/notesSlide8.xml" Id="R01f59eaf26424e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04b149a34269" /><Relationship Type="http://schemas.openxmlformats.org/officeDocument/2006/relationships/notesSlide" Target="/ppt/notesSlides/notesSlide9.xml" Id="R57c2ed6da241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ddde666d3438e" /><Relationship Type="http://schemas.openxmlformats.org/officeDocument/2006/relationships/notesSlide" Target="/ppt/notesSlides/notesSlide10.xml" Id="R2ffc0a7e586e4d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7ac6123a433a" /><Relationship Type="http://schemas.openxmlformats.org/officeDocument/2006/relationships/notesSlide" Target="/ppt/notesSlides/notesSlide11.xml" Id="R264bea04904b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a4387a19d4c9d" /><Relationship Type="http://schemas.openxmlformats.org/officeDocument/2006/relationships/notesSlide" Target="/ppt/notesSlides/notesSlide12.xml" Id="R6c74f7336b4c42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663a806bf444e" /><Relationship Type="http://schemas.openxmlformats.org/officeDocument/2006/relationships/notesSlide" Target="/ppt/notesSlides/notesSlide13.xml" Id="Rbd6b85f961334b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e88ac59ee4c82" /><Relationship Type="http://schemas.openxmlformats.org/officeDocument/2006/relationships/notesSlide" Target="/ppt/notesSlides/notesSlide14.xml" Id="R1f1ea3b8a32949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34974f95b4d79" /><Relationship Type="http://schemas.openxmlformats.org/officeDocument/2006/relationships/notesSlide" Target="/ppt/notesSlides/notesSlide15.xml" Id="R79bb60cb8af543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da3061da44dd2" /><Relationship Type="http://schemas.openxmlformats.org/officeDocument/2006/relationships/notesSlide" Target="/ppt/notesSlides/notesSlide16.xml" Id="R25c48f35d1dc40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59a3944eb4ea9" /><Relationship Type="http://schemas.openxmlformats.org/officeDocument/2006/relationships/notesSlide" Target="/ppt/notesSlides/notesSlide17.xml" Id="Rb5f81d54d53549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7a8a8a694dc4" /><Relationship Type="http://schemas.openxmlformats.org/officeDocument/2006/relationships/notesSlide" Target="/ppt/notesSlides/notesSlide18.xml" Id="R44f9c47d03c845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b79335f794635" /><Relationship Type="http://schemas.openxmlformats.org/officeDocument/2006/relationships/notesSlide" Target="/ppt/notesSlides/notesSlide19.xml" Id="R75f097f6eb3a46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7550b86e64f22" /><Relationship Type="http://schemas.openxmlformats.org/officeDocument/2006/relationships/notesSlide" Target="/ppt/notesSlides/notesSlide20.xml" Id="R24d321e7a91642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78ed0e2814560" /><Relationship Type="http://schemas.openxmlformats.org/officeDocument/2006/relationships/notesSlide" Target="/ppt/notesSlides/notesSlide21.xml" Id="R2f9ebb01e8f246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d13b190014dbe" /><Relationship Type="http://schemas.openxmlformats.org/officeDocument/2006/relationships/notesSlide" Target="/ppt/notesSlides/notesSlide22.xml" Id="R3ba9b4db307a46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2e310639a463f" /><Relationship Type="http://schemas.openxmlformats.org/officeDocument/2006/relationships/notesSlide" Target="/ppt/notesSlides/notesSlide23.xml" Id="Rdf88afd17bb34f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3724481b04095" /><Relationship Type="http://schemas.openxmlformats.org/officeDocument/2006/relationships/notesSlide" Target="/ppt/notesSlides/notesSlide24.xml" Id="Rf0bb1cdd4a204a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25abc37734545" /><Relationship Type="http://schemas.openxmlformats.org/officeDocument/2006/relationships/notesSlide" Target="/ppt/notesSlides/notesSlide25.xml" Id="R7440d01a3a274f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6f5da7c8492e" /><Relationship Type="http://schemas.openxmlformats.org/officeDocument/2006/relationships/notesSlide" Target="/ppt/notesSlides/notesSlide26.xml" Id="Rb063aa7f1aef42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6beb6f20476d" /><Relationship Type="http://schemas.openxmlformats.org/officeDocument/2006/relationships/notesSlide" Target="/ppt/notesSlides/notesSlide27.xml" Id="Rb9a644e7714642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d46c6e5fc4283" /><Relationship Type="http://schemas.openxmlformats.org/officeDocument/2006/relationships/notesSlide" Target="/ppt/notesSlides/notesSlide28.xml" Id="R8d4045f8de2a46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84857400f42b4" /><Relationship Type="http://schemas.openxmlformats.org/officeDocument/2006/relationships/notesSlide" Target="/ppt/notesSlides/notesSlide29.xml" Id="R38824733dee14bd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5d0c31c2448b" /><Relationship Type="http://schemas.openxmlformats.org/officeDocument/2006/relationships/notesSlide" Target="/ppt/notesSlides/notesSlide30.xml" Id="Rff4be029ac68413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68fcb77b14b48" /><Relationship Type="http://schemas.openxmlformats.org/officeDocument/2006/relationships/notesSlide" Target="/ppt/notesSlides/notesSlide31.xml" Id="Rbf011e23b98d44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b65f0b1794c22" /><Relationship Type="http://schemas.openxmlformats.org/officeDocument/2006/relationships/notesSlide" Target="/ppt/notesSlides/notesSlide32.xml" Id="R34b47ed7181d407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522fb2eda4788" /><Relationship Type="http://schemas.openxmlformats.org/officeDocument/2006/relationships/notesSlide" Target="/ppt/notesSlides/notesSlide33.xml" Id="R22edecc554c3428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0987eef5a47e3" /><Relationship Type="http://schemas.openxmlformats.org/officeDocument/2006/relationships/notesSlide" Target="/ppt/notesSlides/notesSlide34.xml" Id="Raa5a53b5053446a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f165d1d6349d2" /><Relationship Type="http://schemas.openxmlformats.org/officeDocument/2006/relationships/notesSlide" Target="/ppt/notesSlides/notesSlide35.xml" Id="Ra64984e46f184b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52a9f493f4520" /><Relationship Type="http://schemas.openxmlformats.org/officeDocument/2006/relationships/notesSlide" Target="/ppt/notesSlides/notesSlide36.xml" Id="Reb03ce6d3acb4b1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45fb4553f4c54" /><Relationship Type="http://schemas.openxmlformats.org/officeDocument/2006/relationships/notesSlide" Target="/ppt/notesSlides/notesSlide37.xml" Id="R1deaff878011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519E7-3A20-4589-86E4-AA2B9C8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94A26-D566-4C43-BA7F-C2FD62A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PAI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B53D0-1E89-4340-AE06-182FD303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ACA31-9D9E-4104-A2D0-05AD4B6C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rPr>
              <a:t>企业级 RAG 知识管理系统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8DDE3-D4E5-4D4B-A32E-E6FE1C0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从零到可调试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12E5F-6642-4755-8A29-94BAF7CD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573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 · 文件上传与解析 · 知识检索 · 聊天助手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99FDA-641B-4139-9E0B-3D341BA7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一份按“前端 → API → 安全过滤 → 服务 → 中间件/存储 → 返回结果”追踪源码的学习型 PPT。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9328E-7A34-408E-8139-7A072DE1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4A8B9-CDEA-42CE-B8EE-D22F7FDC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看懂真实端到端链路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33919-CF71-4741-85C4-E013BB3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71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076C7-9A4A-402F-A4C1-BC1B634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78D5A-7359-40A7-B750-147DD15E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定位关键类、方法与配置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C95DF-EB7A-42C3-8B28-7BC52FA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57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1EB85-7381-461D-86D2-B0D20CF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24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209DC-D007-49E2-AF60-E9CBD5C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掌握调试断点与排错入口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3F3E7-183E-4A65-9EE4-1435B54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43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28CCB-1B14-4C3D-A289-877CF3A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91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基于当前工作区源码核对 · 2026-07-21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E7E68-C796-40C7-B5EB-C08D812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01 / 37</a:t>
            </a:r>
          </a:p>
        </p:txBody>
      </p:sp>
    </p:spTree>
    <p:extLst>
      <p:ext uri="{BB962C8B-B14F-4D97-AF65-F5344CB8AC3E}">
        <p14:creationId xmlns:p14="http://schemas.microsoft.com/office/powerpoint/2010/main" val="683791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5B244-E028-4E27-87DE-DCA8AF7C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学习导航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0D0E-3BF8-4483-B5E4-BBA6DF3B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这份 PPT 解决什么问题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0C2EF-3BEB-417A-A4C0-926E5D5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A7A8E-AF4A-457E-AC4D-0F36C24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CFC4-B94D-456D-9365-9FCC776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02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50782-5E22-4B97-87E7-45295841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6098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E5F1D-8AB9-47BD-96D6-2D3DDD8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8BA35-B926-4372-B224-8BD207B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2B59D-A01F-4FA6-8887-74CB420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注册 / 登录 / JWT / 角色 / 组织标签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98AD0-7257-48FE-9A94-2471EC8C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85900"/>
            <a:ext cx="26098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3F48D-467F-4F7F-A232-4E8888DB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5C06-286F-431F-892F-FD649CB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00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6DF80-410E-4034-90F8-4C52F76D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5MB 分片 / Redis 位图 / MinIO 合并 / Kafka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F8F68-BA06-48C2-A1D3-6AB86676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85900"/>
            <a:ext cx="26098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9AAC1-AB88-4F37-9479-D98DC9D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DBD79-A0C7-4CB3-8562-3BC7B1B2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55D5B-28B8-493F-B8E1-385943B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Query Embedding / KNN / BM25 / 权限过滤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835FC-2A97-43B6-B219-233F317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85900"/>
            <a:ext cx="26098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9420F-B8D7-47FA-B83B-B9E7565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D20BC-0241-47DE-AC46-F44CEAB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00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6435C-7FB5-4E2D-85D1-45FC85FC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WebSocket / RAG / 流式模型 / 引用证据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CC709-E296-47D1-8568-B9728FF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448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482B8-C499-46FD-8118-AEBC27B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统一读法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9AB2A-CC64-4573-93F8-3B03DE0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10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每个模块都按同一条线看：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页面操作 → 前端请求/状态 → Controller → Filter → Service → Repository / 中间件 → 响应。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0CDD9-A773-49F6-8643-47EA7AEE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43350"/>
            <a:ext cx="5715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AD059-F20C-46F5-8FCF-45A593F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学完后的能力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D6537-CDC1-49E0-BF3F-3A6DF741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537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你应该能回答：数据存在哪里？权限在哪里生效？异步边界在哪里？失败会怎样重试？一个请求应该在哪些方法打断点？</a:t>
            </a:r>
          </a:p>
        </p:txBody>
      </p:sp>
    </p:spTree>
    <p:extLst>
      <p:ext uri="{BB962C8B-B14F-4D97-AF65-F5344CB8AC3E}">
        <p14:creationId xmlns:p14="http://schemas.microsoft.com/office/powerpoint/2010/main" val="709983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EB1A3-AFEE-4305-90D1-E3BE0F6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总体认知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FE717-0490-43DE-9534-E6A4153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你提供的模块脑图：作为导航，不作为最终事实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1E66C-A828-4C16-81BA-1BD0425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EB5F5-3EF1-4E2A-B09F-D476B3F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27761-C5AE-412B-9D2E-9523C38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输入：用户提供的脑图；实现细节以当前仓库源码为准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63CB-DD20-42D8-8246-115F7B40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03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76441-C41C-42A8-9CC7-AACF660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4292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DF91F-D3FB-417B-94F7-8EDFD2FB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638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FA4C3-2DA6-4775-A2B3-8214811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修正 1｜文档解析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5ED6D-5745-4803-93FF-414D0843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9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实际代码：PDF 走 PDFBox；其他格式主要由 Apache Tika AutoDetectParser 识别，而不是统一使用 POI。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196B-A901-48AB-970E-B8F24B7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5638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D9C91-9B3A-470A-865A-60044F2F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修正 2｜向量化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B07B0-0DC1-4614-A82F-92B8E96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529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实际模型与维度由运行时 Provider 配置决定；默认 text-embedding-v4、2048 维，索引 knowledge_base。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1EAD6-02F4-40A1-9B57-A6BCC5F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5638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16E1A-27F6-4822-BA6A-113BB015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修正 3｜聊天完成判定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F4BC5-A9DC-47E7-8F97-CCBD013C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529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模型响应是流式的，但当前 ChatHandler 用“响应长度在一段时间内不再变化”来触发 completion 与历史落库。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EAE3B-00CF-4549-8C12-652110E8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011CB-F9C1-438C-9AAB-4A9296D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9EEBC-B5BB-4334-8840-8D190AB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正确用法：先用脑图记住模块，再用本 PPT 的“入口文件 + 方法 + 数据去向”还原真实执行链。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d4845d34b42ad"/>
          <a:stretch xmlns:a="http://schemas.openxmlformats.org/drawingml/2006/main"/>
        </p:blipFill>
        <p:spPr>
          <a:xfrm xmlns:a="http://schemas.openxmlformats.org/drawingml/2006/main">
            <a:off x="1725439" y="1466850"/>
            <a:ext cx="2778472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06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C34600-91AB-4BE8-94A2-B93D6F3B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E988-8F25-4550-A4C6-6498232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系统全景：两条主数据链在 Elasticsearch 汇合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1DAA-7377-47D4-9A38-01A17955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25D49-C1E0-4983-9CBA-AB30A57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7F8E-75B3-44B5-9F36-FA941BD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配置：pom.xml；src/main/resources/application.yml；src/main/resources/elasticsearch-mapping.json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F90A0-002B-4D06-9B67-7D2D79FB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04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2E4A7-BA85-4A6E-B4AB-4C89517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写入链｜把文件变成可检索知识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08A7C-9017-4017-928D-E901EC47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50" y="2266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96414-49CA-4BD2-93E4-1E011A45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38491-EB42-4C33-9EAF-95B096C8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D0BB4-8AF6-4FC2-A649-702FF2C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Vue 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06550-FB2D-4B09-AA53-578AC5E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计算 MD5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切成 5MB 分片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BC1B5-6D7E-41E7-AAF1-C62C1D4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2266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D86BE-AD27-4B65-854E-DC736ED1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85BE4-9EAF-4D26-99FA-2B81343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18775-95D6-472E-A195-87B3C91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Spring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9039D-EE49-406F-8F67-2B891174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校验类型、大小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组织标签与可见性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320AF-09E7-44D1-8482-06C5522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28DA1-F8F1-4845-B468-FDA2C02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B6ADA-2406-4B7A-82A4-6B4D2006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FEE35-DC80-455E-B955-07D539D3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6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 + Redis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8FEE9-11F1-48CB-859A-80C27B53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分片对象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上传位图 / 断点续传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377AE-0D47-4C22-9EE1-ED67E84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266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DEECB-AFA8-40B2-80BF-236D667C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327E7-C1B9-4F14-A552-A0F22AF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AE94B-2D15-402E-BFDA-8ED0236C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28539-3EF7-43A0-BD85-87F7D234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合并后投递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异步解析任务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44E04-414D-4660-B6C1-70B89B2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266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DDBB0-4538-419C-A0C9-C00CFCB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E915C-21EA-4426-AF81-9251B79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A0C28-2205-4DDA-9CC2-6408678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Tika / PDFBox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680F0-BEAA-4D0F-919A-41DD3793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抽取文本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页码 / 语义分块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0ABD1-868F-4F7D-9230-79626DD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17526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6F9EA-D42B-4B6B-818F-62861B2E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866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D6B4F-AB3C-447C-B73F-C692106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750" y="18478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Embedding + 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F3CDC2-FF71-4805-A418-B71EAEC5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22288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2048 维向量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权限字段随块入索引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2B5B0-88BC-430D-995C-7BACFEA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读取链｜把问题变成有来源的回答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048A3E-EB90-4669-9202-1F4FAF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50" y="41338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69EA8F-5876-4935-AFB0-D89D0AD8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9FB836-9B32-4445-927A-BC267EB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7DBAA7-6DF8-4E67-B0C2-CBC52EC0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WebSocket 问题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5CF068-00F6-4C5E-A292-BDD8826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JWT 在路径中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心跳 / 重连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67665-02AE-4C2E-AAB0-C42C5BF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41338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ADC6C1-17BD-4C7A-B93D-640A801F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4AB71B-C2AD-40B6-A0C7-CF18FE40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B0234E-199F-4F38-942A-830A111B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Embedding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8DB2AC-FBC4-4D58-929E-606917A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查询限流与额度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生成问题向量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C54A99-1BED-49BA-849D-7489F4A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338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2F741-D4AF-4531-BA07-82E04169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E93F43-DEF7-4844-B276-22808FE5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1D44B3-C35C-4A1A-8D8F-9094C88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6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4B81CD-A492-4D5D-8041-05A5526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KNN 召回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AND 文本 + BM25 重排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40DB1B-12D0-459A-8CD0-7EF1AEE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A8E973-0E44-4137-B449-2C93273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CB270E-D84E-4D4A-BC7C-328496A7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AE47A1-93EE-484C-95D9-9470EFE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权限过滤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749CC1-2252-41ED-BCEA-ED613A9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本人 / 公开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有效组织标签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BEA0A4-8606-4D7F-A4B6-9C25B14C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1338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1AA91E-03C3-4E1C-9C55-9F85CFD1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146FF8-C30A-4810-9688-60F254AE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6DDF85-299B-4652-8AEB-E085A59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5AD97E-1F3D-41F7-8CEF-9077709E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Top 5 证据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历史 + 引用编号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D8DA0D-CD5C-4069-8BBB-B7C7CE4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3619500"/>
            <a:ext cx="1803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FFB341-0742-4905-9AEC-513F8DB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37338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BE0B5B-7787-4741-A9B5-8B82606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750" y="3714750"/>
            <a:ext cx="121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流式回答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FAA000-1A45-43B1-A8F7-B4B21ED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40957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 回传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Redis 历史与引用映射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2A7F55-EFB4-4BE6-BB8F-8664481D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DF2695-DBD7-4B37-B363-B65B692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78A7D0-F2F5-496C-8077-CE3D3E2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关键汇合点：Elasticsearch 中的每个文档块同时携带 vector、textContent、userId、orgTag、公开标记。</a:t>
            </a:r>
          </a:p>
        </p:txBody>
      </p:sp>
    </p:spTree>
    <p:extLst>
      <p:ext uri="{BB962C8B-B14F-4D97-AF65-F5344CB8AC3E}">
        <p14:creationId xmlns:p14="http://schemas.microsoft.com/office/powerpoint/2010/main" val="1098471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13EA5-80B6-4D10-87C5-98245465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目录结构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1EBB6-1CA6-48A7-9250-78A45DB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先建立源码地图：同一功能跨越前后端与基础设施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29E2C-D10C-47AA-861D-C4038F5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4DF74-C7E6-4FB7-B909-C9D7062B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E8A46-17BD-41A0-A998-33D7A667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项目根目录：C:/Users/lqhw/IdeaProjects/PaiSmart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BB659-1559-4FAB-B400-C08A58D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05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5A293-6697-4B26-9957-59C5AF3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5245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EB7FF-F56E-4AAD-BBF4-8C7EF08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PROJECT TREE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73494-E256-43D0-96CC-BB5A87C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816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PaiSmart/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├─ frontend/src/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views/                 页面入口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store/modules/         Auth / KnowledgeBase / Chat 状态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└─ service/               HTTP 请求封装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├─ src/main/java/.../smartpai/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controller/            REST 边界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config/ + handler/     JWT / 组织权限 / WebSocket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service/ + client/     业务、解析、检索、模型调用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consumer/              Kafka 异步处理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├─ repository/            MySQL 数据访问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│  └─ model/ + entity/       业务实体与 ES 文档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└─ src/main/resources/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├─ application.yml        运行参数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└─ elasticsearch-mapping.json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E0BEE-8E82-4351-A0AF-058F673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8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E3375-FA4B-4E4F-926A-BED7DB0E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E9B53-F8D1-4CE2-945B-5B2161C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用户、组织标签、上传元数据、分块文本、任务/用量。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959F-0329-43EC-9042-DCF8823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558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3F9A6-9D5A-43BE-B82A-9EDF5BEA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B7027-16DD-462D-8439-1E9649D1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JWT 有效性、上传位图、当前会话、最近 20 条消息、限流计数。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219CB-4416-43BD-B088-A648A40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558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2112A-CC9F-450D-80C8-25271F1B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AAA2F-12F9-4B7E-AE67-690838B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chunks/&lt;md5&gt;/&lt;index&gt; 临时分片；merged/&lt;md5&gt; 完整文件。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73C79-C90A-45D1-B838-16B64907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5816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86E4D-F1F3-4280-B9BF-6DABF32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 + Elasticsearch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E3558-A420-4FEE-979E-FE190FB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Kafka 把上传响应与耗时解析解耦；ES 存文本、向量、权限字段并完成混合检索。</a:t>
            </a:r>
          </a:p>
        </p:txBody>
      </p:sp>
    </p:spTree>
    <p:extLst>
      <p:ext uri="{BB962C8B-B14F-4D97-AF65-F5344CB8AC3E}">
        <p14:creationId xmlns:p14="http://schemas.microsoft.com/office/powerpoint/2010/main" val="127782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87998-91F0-4FDD-B3FD-DBB1C27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阅读方法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EFADF-8D39-40FC-B3B8-3575A91D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从零学习时，不要从类名开始：从一个可操作场景开始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7E052-4555-4169-98AB-E940ECE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750C-DECF-43BE-AAD8-D422C0D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068CD-687D-4DA6-823A-5428264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06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DD513-3E99-4D99-9E3E-99033BA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8D67F-167E-44B2-B254-2277BC4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注册一个用户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713E7-5273-464D-A389-AF3C95A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观察 users / org tags / Redis 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6FD53-B3CB-4756-94AA-36B28C6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E19EC-93BB-4EF5-BEE3-A5452EB2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71AD4-10E2-4DF0-966C-07F76892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上传一个 2 页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0CAC8-30CB-4F6D-B2C8-4E8061B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观察分片、合并、Kafka、页级文本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CD406-C4CC-42B8-BA29-82A16AC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214A2-EFD7-482D-A566-BC814381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C8035-2792-41B6-81F4-51E2694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搜索 PDF 中一句话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C4B01-C367-4436-A7E6-7362CA3F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观察 query vector、ES 查询、权限 should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639DF-5C0B-490A-9E90-6AD7DCE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64D2A-B97C-4C98-9859-12A2D4F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F2C1A-FF3B-4697-B5E0-A3946FCD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在聊天里追问并点引用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D38A0-EA15-4BBD-8B3B-8DB0CFB0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观察 Top5、Prompt、流式消息、reference-detail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D42E3-3074-4383-AED0-5AC73AFF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40DF0-EE12-45AE-9565-A35D579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50482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6A1CD-950F-4076-A93E-E2D5639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REQUEST-TRACE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2911B-FDAE-44C8-B7F1-6C30BA2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47053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浏览器 Network / WS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    ↓ 复制 URL、参数、状态码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Controller 入口打断点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    ↓ 看 request attribute 的 userId/orgTags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Service 关键分支打断点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    ↓ 看 Redis key / MinIO object / Kafka message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Repository 或 ES 查询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    ↓ 验证最终落库与返回字段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0C89E-6D67-4F4D-BDD8-7E60E23E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71AB3-653F-4B64-B293-39F8140D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D6CCB-3DDF-41AD-881C-D0DAE59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本 PPT 每条链都给出：入口 → 关键分支 → 数据去向 → 源码位置 → 建议断点。</a:t>
            </a:r>
          </a:p>
        </p:txBody>
      </p:sp>
    </p:spTree>
    <p:extLst>
      <p:ext uri="{BB962C8B-B14F-4D97-AF65-F5344CB8AC3E}">
        <p14:creationId xmlns:p14="http://schemas.microsoft.com/office/powerpoint/2010/main" val="1554689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50D7F-EBF6-4AE6-828F-294D6B1A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16ACC-EBFC-4A3D-BBD4-89BEC91A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57373-A136-439E-9E9E-F51CAFE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rPr>
              <a:t>身份先被验证，再被编码进 JWT；后续模块都依赖这份身份与组织权限上下文。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C1ED-AB72-407A-8670-7F331B8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960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C4D4F-F79F-4F93-8D8F-C4EB38A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E4562-C4D2-440A-A452-2DFA5937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7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56586-31DF-4B2B-A2A5-A56FFE7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策略 / 邀请码 / BCrypt / 私有组织标签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8A14E-A013-4EAF-A155-97592DA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295CA-C375-4CB6-93B9-0F6F312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89120-5FFC-4621-B293-45166A6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24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access + refresh token，Redis 保存有效状态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0C218-3891-4F59-87E7-8DA676E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5F813-C495-4BC5-B248-AB1F5A94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鉴权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EEFE6-1D22-4180-8444-E35502F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Spring Security + JWT Filter + OrgTag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30D10-EC8C-4FE2-A807-67AEAEB7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A4B94-0500-49CA-B532-30D00110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B7A9F-3206-4E44-A93B-55FC4E8C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角色、本人、公开、组织层级共同决定访问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0528D-AC5E-4AF6-8A2F-469E6227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rPr>
              <a:t>07 / 37</a:t>
            </a:r>
          </a:p>
        </p:txBody>
      </p:sp>
    </p:spTree>
    <p:extLst>
      <p:ext uri="{BB962C8B-B14F-4D97-AF65-F5344CB8AC3E}">
        <p14:creationId xmlns:p14="http://schemas.microsoft.com/office/powerpoint/2010/main" val="1323805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A43BE6-8A04-49C6-B084-D04D8C16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78B7D-A7B1-4239-84CC-06C8070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注册链路：一个用户同时产生账号与默认权限边界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51EAE-A188-4D6C-A988-DCFBF0E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E9E53-33EA-4D0D-BA46-DC21697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DF3A2-DC00-49E0-8C70-16683E31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frontend/src/views/_builtin/login/modules/register.vue；UserController.java:55；UserService.java:95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8E0C-8C7B-45D7-9CFE-15CF52E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08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A1A64-B195-46A8-A71E-7162B68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10" y="20288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A33BC-31EE-45B2-BF16-51DA129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15646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B16AB-AD35-4985-8FE4-C6CD3B9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425A1-C76F-468F-8D87-ED74AA9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5659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F70E6-31DF-496E-AA4A-4E875BB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8897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username / password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inviteCode（按策略）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AF381-C1DF-4EDD-9A16-538B5D7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20288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27673-0008-426F-9F05-7A7302C1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1485900"/>
            <a:ext cx="215646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0E0DC-707E-4195-8728-38266F1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600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814FD-73DB-4C9F-8EF7-EE383C71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110" y="1581150"/>
            <a:ext cx="15659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POST /users/register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C3789-6BDE-4ED7-8990-713B1C2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962150"/>
            <a:ext cx="18897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UserController.register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基本请求校验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F0766-3A57-4E4F-A3A2-EF4ED03E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20288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5CFAA-2126-41CD-B963-F6F4889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1485900"/>
            <a:ext cx="215646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56ACE-DAA6-4CB8-AF36-F823BD3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1600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E62CD-5743-4BD1-AF3C-7AF124CD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1581150"/>
            <a:ext cx="15659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97ABF-C728-4707-9B92-F588B18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1962150"/>
            <a:ext cx="18897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开放 / 邀请码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密码复杂度与唯一性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E32B9-C9B7-42AB-A0F5-A8DB4EB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288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D4E6A-912B-42EA-9885-EB88245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1485900"/>
            <a:ext cx="215646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3C0D2-DFA5-4C14-992E-72CC19A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1600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783B5-869C-40D5-8111-44D31F84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830" y="1581150"/>
            <a:ext cx="15659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保存账号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4D29A-1A97-4C5A-A106-F21EB64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1962150"/>
            <a:ext cx="18897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BCrypt 哈希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role =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50C0E-3BAF-4178-9083-DAE42A0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485900"/>
            <a:ext cx="215646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BF962-DA29-467A-80CA-B3F1FCCF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1600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7CF01-6887-48CE-A30A-A111067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690" y="1581150"/>
            <a:ext cx="15659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建立权限标签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2F196-74F1-4705-983F-D9F0A3B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1962150"/>
            <a:ext cx="18897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DEFAULT +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PRIVATE_&lt;username&gt;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CADBC-8ACF-453C-8096-BF47B9D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0388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BBC53-E4A9-4D56-91B2-76AA9E0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7E3A1A-AADE-4D35-AF07-886CFE5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5695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// UserService.registerUser(...)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validateRegistrationPolicy(username, inviteCode);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validatePassword(password);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user.setPassword(PasswordUtil.encode(password));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user.setRole("USER");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userRepository.save(user);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// 为用户创建 PRIVATE_&lt;username&gt; 标签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assignOrgTagsToUser(user.getId(), ["DEFAULT", privateTag]);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setPrimaryOrgTag(user.getId(), privateTag);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A173DE-DFCE-4312-9845-F6A2108F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48000"/>
            <a:ext cx="5067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1723D3-4B82-4B95-ADCE-EBBC8D80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写入的数据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C1C209-592F-472C-8D49-AF7786EC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users：账号、哈希密码、角色、orgTags、primaryOrg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organization_tags：PRIVATE_&lt;username&gt; 及创建者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4B67F-CCF3-455F-90F3-51E30D0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50673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FA86D3-A440-4BEE-807A-FE4A96A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必须理解的点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39CE3B-5061-4085-90ED-C4C35B55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密码从不以明文保存；“私有组织标签”让每个用户天然拥有一个仅自己可见的上传范围。</a:t>
            </a:r>
          </a:p>
        </p:txBody>
      </p:sp>
    </p:spTree>
    <p:extLst>
      <p:ext uri="{BB962C8B-B14F-4D97-AF65-F5344CB8AC3E}">
        <p14:creationId xmlns:p14="http://schemas.microsoft.com/office/powerpoint/2010/main" val="680567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4BB77A-AC81-493F-A498-9AD0E7DE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C8399-090C-42AF-BBFD-29251C9C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登录链路：JWT 不只是身份证，也携带权限快照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899C6-6B5F-453F-98BC-06F828A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07A2D-E8B0-4410-BDDB-AADF4CC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1F14B-903E-4C38-A027-6D20F0BC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frontend/src/store/modules/auth/index.ts:103；UserController.java:89；JwtUtils.java:51,296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62CB8-F855-4D0B-AB50-6995843B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09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CDD73-3489-4408-8562-D9715FF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B4E67-E886-4D45-8EAA-2D01614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16D8-346C-423C-A1BB-22C404F3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CBAE5-462C-483C-93BC-8A6D446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Pinia 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014F8-47E4-40B0-9A9A-598BEF1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POST /users/login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拿 token 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4A489-921A-4665-9DB8-37C8E01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54275-08AF-4DC9-8E0A-070209D9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4A8F7-BB58-47FD-8E17-D13359B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594BD-3973-496A-9546-471CDC5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校验密码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F2642-F4EB-4BA0-A73A-0D54068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UserService.authenticate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BCrypt.matches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369D9-746D-4B1D-BB95-B13234E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DF90E-4C65-42E7-AEDC-7C25FFAC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44922-4059-404E-B6DC-C5B3B2D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81701-6DD1-48F2-B3FD-61D7527A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Access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DB755-E4F4-4A04-8313-73D22CB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1 小时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username / role / userId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A2078-2F96-40CC-A763-3F313C37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25C0B-65FD-4DAD-BACE-98AC5D51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16F94-F5E7-4E49-AAAF-6F4F6F3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066A5C-E8C6-4A66-AD47-8814A52A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Refresh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D37E3-9079-4EB4-9870-62C9509A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7 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独立 refreshTokenId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D25E8A-0CC0-4782-B236-D2FE4AEA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EBF79F-C41A-481E-BEF9-0C503C8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0D3DC-1AC6-40EF-9C31-9703289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 + Redis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46872-FAA8-4DD3-97A8-2F09B9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前端 localStorage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后端 jwt:* 有效性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C49D3-5289-46D0-9169-3AD9633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81025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74EAE9-59A4-4E81-BFC0-717D408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546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486CA-168B-4217-A6B6-772AD23F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54673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String username = userService.authenticateUser(...);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String token = jwtUtils.generateToken(username);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String refreshToken = jwtUtils.generateRefreshToken(username);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// access token claims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role, userId, orgTags, primaryOrg, tokenId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// 前端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localStg.set('token', loginToken.token);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localStg.set('refreshToken', loginToken.refreshToken);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ED0F8C-CA63-4139-B0B8-EFEDAF07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52959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84481-F397-4B39-8463-B400F10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为什么还要 Redis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08D274-E33C-454E-88E9-C0A3E0B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签名合法只能证明 Token 未被篡改；Redis 的 tokenId 状态让注销、轮转、主动失效成为可能。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96B46C-CEC1-432E-ACAF-6196BB9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5295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BF7042-8C70-41EC-9CC3-FEECF49D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后续请求携带什么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F0BA5F-B93A-41B2-B745-501E711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HTTP：Authorization: Bearer &lt;token&gt;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WebSocket：/chat/{urlEncodedToken}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Filter 再把 userId / role / orgTags 写入安全上下文或 request attribute。</a:t>
            </a:r>
          </a:p>
        </p:txBody>
      </p:sp>
    </p:spTree>
    <p:extLst>
      <p:ext uri="{BB962C8B-B14F-4D97-AF65-F5344CB8AC3E}">
        <p14:creationId xmlns:p14="http://schemas.microsoft.com/office/powerpoint/2010/main" val="211566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4295FF-0F17-48AC-BE86-949B5A1B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9B991-B1CC-412D-A06A-11D6A1B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安全过滤链：先认证，再补充组织标签授权上下文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D394-9298-4215-B6C8-1E3541E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E8CD5-FEEC-4ED8-B506-1B304ED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B78CA-1F02-43EC-8AA2-24E97361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SecurityConfig.java:42-77；JwtAuthenticationFilter.java:39-78；OrgTagAuthorizationFilter.java:53-122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ED4D3-1C48-40D1-B535-36CF505A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10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4BD57-A135-4461-898F-45B26CC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288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9F894-51FF-476C-963F-0F06D12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65B0A-2074-46AC-9897-65353A7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19EA2-57CE-4DDB-8BF5-DA40889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请求进入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3D50-1DEA-49E6-A04F-A57FB949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Authorization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或允许匿名路径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C2FC3-0F03-4A03-9A53-F9351F6C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288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9A751-D356-41C8-ACC2-4EB2EB7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668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C0CF6-294E-48FA-BE3B-E8917C0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81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11A5D-4818-4922-A385-FF1C2B63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JwtAuthenticationFilter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FE7C2-4320-4133-B896-AB97323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Redis + 签名校验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构造 Authentication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B81BB-5EA7-4DAF-93E1-566968A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288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EFA08-FEEA-4F35-BCA5-9A61891D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668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FF540-BC4A-4B15-8775-3D3991F1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81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07C54-064C-4B19-A586-80CBA347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SecurityConfig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25763-F5A8-48D5-ADA8-94E3E4BA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角色规则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anyRequest authenticated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6E754-F589-4A52-A636-F9BF4A7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288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03BCF-F996-46E4-A082-D65495D7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668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B0FB7-0BCA-4B53-AD48-E00B81B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81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2132E-4B8D-453C-9E86-39F9C16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OrgTag Filter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8B620-6873-4B1C-B537-B3BA36A9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43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解析 userId/role/tags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资源级访问判断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FC9B8-AA0C-414F-9ECA-7CC903C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BF290-AE89-4A0B-8142-6724CF33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81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6B9FA-BA1A-4FE0-B17A-05C7562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62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45491-3E58-4313-91AC-6A9CD65E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读取 request attribute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进入业务逻辑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3E7E3-FCE8-4CE7-9ACE-70B3F90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8B5C59-250F-4B8E-ADE1-C399F19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DC9A0-A86D-4382-BA11-961DBD96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自动刷新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E49B5-8E50-4613-886F-16E450A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181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有效 Token 距过期 ≤ 5 分钟时主动刷新；过期后 10 分钟宽限期内也可尝试刷新。新 Token 通过响应头返回。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7EDD2-F371-481F-88F5-02415A9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2F62B6-99DC-4385-8065-E70DE871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21D41-FE70-49A3-B698-2A21694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公开端点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EB813E-D8D5-4922-834A-379790B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181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注册、登录、refreshToken、WebSocket 路径等按 SecurityConfig 放行；真正的 WS JWT 验证在 ChatWebSocketHandler 建连时执行。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E74E70-D899-4BDC-87C0-AB38769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3924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0D1C1-8E44-4349-B461-509ED44C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A0368-608F-4F4F-8680-C8EE403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阅读提醒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B3AB54-E85E-454A-BD1D-E65DB78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3581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URL 匹配规则决定哪个角色约束生效。排查 401/403 时，先看 SecurityConfig，再看两个 Filter 的路径分支和 request attribute。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378904-2045-4E92-9F97-4DF98CF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2BB1E1-F680-4C98-B7FB-1619FBFF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70F82B-7361-4E23-A0B7-BBCC12F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认证 Authentication 回答“你是谁”；组织标签过滤回答“你能看哪一份数据”。</a:t>
            </a:r>
          </a:p>
        </p:txBody>
      </p:sp>
    </p:spTree>
    <p:extLst>
      <p:ext uri="{BB962C8B-B14F-4D97-AF65-F5344CB8AC3E}">
        <p14:creationId xmlns:p14="http://schemas.microsoft.com/office/powerpoint/2010/main" val="1770100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18089-EBB6-42DE-87CD-371A91E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47A52-DBC3-406C-A8CD-28C40D9C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权限模型：角色是粗粒度，组织标签是数据级边界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E52E4-66AB-47EA-ACEC-7223CD6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24A4-A8E8-468D-BE43-C70716C2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A6574-9B2E-479A-AD11-BFCB5B6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OrgTagAuthorizationFilter.java；FileUploadRepository.findAccessibleFilesWithTags；HybridSearchService.searchWithPermission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17665-3A4C-47CD-B61C-72E0D7F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11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A7F5D-AE83-4067-B112-80F62304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一次资源访问满足以下任一条件即可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81784-9956-4BC7-A11E-ADBFAAE3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521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53DC8-D486-46D4-BB8E-F08F37FF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EE143-B7BE-4D8E-A437-BFC6480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4787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file.userId == 当前 userId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DB829-04F2-49B0-A55D-E40457CB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21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0BF42-2BAE-4960-9006-8448BE0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PUBLIC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3BFD3-9900-4ADE-AB8A-3D0D8BC0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289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isPublic == 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F4C80-13BC-4905-B5E2-370C387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521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CF06B-6222-4165-BFB3-885C6B7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ORG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7B4EC-E4CE-409B-811C-655751A3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file.orgTag ∈ 用户有效组织标签（含层级）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67D88-D9D6-4BF8-AA4D-6D0447B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1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D5907-6900-4ED6-8993-8F80ACA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987EB-9FE0-4889-99F6-31A44BFE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910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管理员按受保护 API 的角色规则管理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420C1-668C-4006-95CA-0B28315D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581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C7582-9862-4C2E-974D-8DCD1DA5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组织层级扩展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1F50A-BCE9-404E-8318-AEBB068D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5467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OrgTagCacheService 会计算有效标签集合；父/子标签关系会影响文件列表与检索过滤，因此不能只比较用户表中的原始逗号字符串。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149D1-3844-4A64-8CD0-00AAD50C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581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56659-0263-416F-AF90-B2B3749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同一规则必须贯穿两份数据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2EEA6-97F3-4D29-B121-85799E5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MySQL 的 file_upload 控制列表、下载、预览；Elasticsearch 文档块也要保存 userId / orgTag / 公开标记，否则搜索结果可能越权。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F5DEC-33F7-4399-87F7-D6FB95C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581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40262-7116-4823-8076-1068A965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上传时决定权限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0BAA7-BDC4-43DA-AB91-9608CA7E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721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orgTag 与 isPublic 从分片上传一直携带到 Kafka task、DocumentVector、EsDocument。</a:t>
            </a:r>
          </a:p>
        </p:txBody>
      </p:sp>
    </p:spTree>
    <p:extLst>
      <p:ext uri="{BB962C8B-B14F-4D97-AF65-F5344CB8AC3E}">
        <p14:creationId xmlns:p14="http://schemas.microsoft.com/office/powerpoint/2010/main" val="137466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B497DA-4DD2-438C-887F-290760A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244D0-AF11-4B38-801D-B702D478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用户模块源码索引与建议断点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D2756-F90C-48DF-88BD-EACFBD5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BE9F4-9113-4D85-BFD0-0196B12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E8C9-1648-4E9D-B407-987BC51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按表中顺序打开文件即可复现注册、登录、鉴权与授权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1B96-305B-4CDC-8245-CC7DE0E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12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B75E3-46BD-46B3-BD85-D8D6F863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24846-A483-4D61-AAC9-7ACD53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E8003-F59E-44BB-B4EC-0AAC189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52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0AE9D-B0DD-4F86-BE8A-0A9FA55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1212D-CBAD-45B7-BB3E-64E76DF3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52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7B9E0-3846-494C-AE6A-7D84A43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入口/方法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23857-6BD3-4CAE-ACE5-297B0D45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52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B86E3-012E-4380-9F93-9C67D80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你要观察的变量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FE9CC-E0DB-43ED-AA29-718D1A9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217DF-77CA-4C10-A71B-01641D1B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A7D64-4C9C-42A1-A4B6-CF1B316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81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798B9-A864-416F-8430-026C9549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frontend/src/store/modules/auth/index.ts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DE706-1B62-4E26-A97B-8FA3A7E4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81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61973-A706-4AA5-93B3-AD128366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57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login() :103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B802D-7344-4579-AC36-198AF7F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66A3E-4B63-476D-902D-AC367B1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token、refreshToken、userInfo、角色判断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EEA58-24EF-43A5-8AA4-960EB0D0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0A6C5-CAC2-4FE1-AB5A-E1BCA72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注册/登录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B4BE2-7518-48DE-89CA-12E2EC2F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9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AB40C-B343-4C24-90D5-F1DC03C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controller/UserController.java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CBE30-E33B-4C5A-BE8A-CC88B57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E840-DAA4-4D66-9298-1FC44615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register :55 / login :89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0781F-CCA2-4A64-BC72-7DF8CA0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4E9C1-FED0-4CFC-8AC6-9DF6E365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统一响应、异常状态、JWT 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CF068-27A4-4E05-874A-EE24EFD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A3B77-A182-48D3-8754-BD8F882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用户业务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7B06A-7FEC-4EC9-89F1-B77941A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38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9F693-26E5-472E-AE50-784EA3A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service/UserService.java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6D4D66-3C23-4DE4-8594-1BA53687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6221B-945C-472C-A440-9C5012A1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registerUser :95 / authenticate :244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3F828F-4D6D-4B94-B704-0AEEA371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BFCC6-F4F5-4FFD-A222-1495FA82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密码哈希、DEFAULT/PRIVATE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731E5-0168-4D02-B3F0-1243C39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060CB8-1644-45E9-86CE-66A2390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F206DD-E9BC-4C2F-8FBC-1093F3F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67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7CFEC6-728A-42EC-83FF-757761EE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utils/JwtUtils.java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A510B4-822B-4B38-8136-4E1DD67D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67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0C250A-ECCF-4DA1-878D-9901B9B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generateToken :51 / validate :95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31F97C-13D1-40CF-8798-C0C92B4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D3212-45D6-43FB-A18B-47DA5D5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claims、tokenId、有效期、Redis 状态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C0867-5372-47C7-86C5-0B23F91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DE6736-43C6-4B12-BD50-3B13D08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过滤器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C48B2A-28F9-4FED-A1B3-3717B0FF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95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A84DBF-23B3-40B7-BE97-7106069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72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config/JwtAuthenticationFilter.java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config/OrgTagAuthorizationFilter.java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1ABE30-A5B5-46CE-8F07-68B4842E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2236CC-169C-4A05-A508-8C26B530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72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doFilterInternal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4B6DA1-6505-41CF-B4EF-94764743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E1761D-19C8-42FF-A052-4BC0A77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Authentication、request userId/role/orgTags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7742F2-3556-4504-9ACF-5999475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EA90D4-1650-4561-A56C-5F3405F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刷新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973E55-F003-4FC0-832A-04BE874F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24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B4D18D-FA36-43BC-8132-14C1CB5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controller/AuthController.java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D8D006-2B9A-4DAF-93FF-32D2AE5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24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747D06-542D-4D13-A7B6-8222DDD0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refreshToken :40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532A77-5664-46EA-8488-31AAE9E3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24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6DC20E-1A20-4ADE-B1A5-757B4FE0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006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 refresh 失效、新 token 对轮转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43F75C-47C7-4573-980F-5F2D4E0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174D08-B07D-48D7-A976-404F1962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E6FC40-6A4B-4779-9855-4CD9B9A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最小练习：注册 user_a → 登录 → 查看 JWT claims → 上传私有文件 → 用 user_b 验证列表、检索、下载都不可见。</a:t>
            </a:r>
          </a:p>
        </p:txBody>
      </p:sp>
    </p:spTree>
    <p:extLst>
      <p:ext uri="{BB962C8B-B14F-4D97-AF65-F5344CB8AC3E}">
        <p14:creationId xmlns:p14="http://schemas.microsoft.com/office/powerpoint/2010/main" val="9164517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81C27-3F10-4783-A8A2-A5FFDDA1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F0319-0CE8-4DE8-9D2A-3F93E24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文件上传与解析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A16E1-F902-4073-90E0-2E53DCDE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rPr>
              <a:t>同步链负责可靠接收；异步链负责把完整文件转换成可检索的文本块与向量。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4C24F-857B-4816-A39F-AF8B6F54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960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F4DE7-C936-4F0E-87DB-DF493800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AA37A-AFE6-4DA1-BEB7-50E8184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7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前端分片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2EEC-84D4-4956-BF93-A22ECCC3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MD5、5MB、队列、进度与恢复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F773E-8422-465E-AC74-86DD08BD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B17FA-FF93-4060-A30D-0C15390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可靠上传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A586E-CAE0-43BA-B443-AB20873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24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MinIO 分片 + Redis 位图 + MySQL 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BA3FA-AA03-46A4-965A-51820F0D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2EC0C-131A-4BD7-A333-CD874DBB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合并投递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047FD-FAE0-45DB-A5F2-A13BC4F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状态 CAS、MinIO compose、Kafka transaction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85F45-4BEE-4ACA-84C8-9129F0F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03A23-264D-4596-8C8C-FA5C1D0E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5740C-A3C5-4004-A214-29ACE2C8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解析、语义分块、Embedding、ES 批量索引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D44B-5CA3-427C-A355-EA14695B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rPr>
              <a:t>13 / 37</a:t>
            </a:r>
          </a:p>
        </p:txBody>
      </p:sp>
    </p:spTree>
    <p:extLst>
      <p:ext uri="{BB962C8B-B14F-4D97-AF65-F5344CB8AC3E}">
        <p14:creationId xmlns:p14="http://schemas.microsoft.com/office/powerpoint/2010/main" val="20540061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806D0C-043D-4A00-8866-3381CB21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E166-B8B5-4BA1-A535-8A0008EE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前端分片队列：文件级并发，分片级串行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8DD3E-B1AA-4C11-91DE-3ECE00E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A71E0-8CC3-4FAD-80D2-DF478D6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22735-233D-42BB-BED5-A45F8136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frontend/src/constants/common.ts；frontend/src/store/modules/knowledge-base/index.ts:8-171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6FE6-18DD-4630-8F6A-B78B4BB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14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7984-6023-4298-9A27-0BFC5D8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716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3840A-E1F3-4AFA-A93F-4FED7E8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9F6A8-E81B-4EC4-9B4A-C851479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2B51A-8DB8-49D4-A297-DA6D120C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B6637-9617-447F-9C2D-AF21BEF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UI 默认接受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.pdf/.doc/.docx/.txt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AF8C1-5CF9-402C-B35E-E2997A6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716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6C922-1D85-4B52-B6AD-13BC315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CC85C-1F3F-4D4D-BB6C-74F9A7F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DA830-695E-4AFC-8C4A-F54705E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计算 MD5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5D600-9B62-4A7B-97C6-AC494D1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作为幂等键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标识整份文件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F6846-F840-4353-A860-999EDC73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716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73EC4-AE28-461B-84A7-4CE4755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A83FE-6A0E-49F0-9313-178C80D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82672-F1B1-4A69-9AB5-00A78233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加入队列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D4537-22FB-47C0-97A8-259A2607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同一 md5 去重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记录 task 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2E6BC-A23F-460D-9B05-7BB8CB5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716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BDF34-786D-48AC-BE20-1E81A22F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16B1B-0DD6-4590-A07C-4EBEA49A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1AE52-72D8-4E3E-BBE9-3CF7532E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切 5MB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B422B-F4EF-463B-A9A9-04A3A5B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file.slice(start,end)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逐片 POST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B1FC6-79A3-442D-A266-9A26620F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3BC790-F465-4D5B-B2DA-CC81BCA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6BCF1-FA2F-4D58-AE7C-2FF0420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全部完成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54E96-F6F2-44AC-A586-0FD1B35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POST /upload/merge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任务置 finished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3FF14-3067-4582-B00E-1B06CE1E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657225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6CEB03-2B4F-473C-ABF4-36DAD68B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BD70D-AB28-4200-BE08-93033B38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62293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export const chunkSize = 5 * 1024 * 1024;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const start = task.currentChunk * chunkSize;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const end = Math.min(task.file.size, start + chunkSize);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formData.append('file', task.file.slice(start, end));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await request({ url: '/upload/chunk', method: 'post', data: formData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// 最多 3 个文件任务同时运行；每个文件的 chunk 顺序上传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if (task.currentChunk === task.totalChunks) await mergeFile(task);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D6203-D868-4653-AA0A-3272521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5529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E726F-AEBD-4485-96DF-FF506AC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进度来源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78AD4-7925-42FE-AA8A-5809C67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671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前端有 currentChunk；后端也从 Redis 位图返回已上传分片与进度。恢复上传时应以后端状态为准。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B135D-5239-48EF-AB1A-9F553D7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529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693CFF-92D6-416B-B96A-5C6CD3D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196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格式差异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28153-83A3-4E0A-B2E0-8DFF4AA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006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前端选择器只开放 4 类；后端 FileTypeValidationService 实际支持更多 Office、ODF、HTML、JSON、CSV、EPUB 等格式。</a:t>
            </a:r>
          </a:p>
        </p:txBody>
      </p:sp>
    </p:spTree>
    <p:extLst>
      <p:ext uri="{BB962C8B-B14F-4D97-AF65-F5344CB8AC3E}">
        <p14:creationId xmlns:p14="http://schemas.microsoft.com/office/powerpoint/2010/main" val="9857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25C5DD-981A-462C-924D-8D0264C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39512-4AF8-4FA2-915C-50126A63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分片上传后端：三份状态共同保证幂等与可恢复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E48CD-1733-4BAA-8DCE-294FC82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C534A-2E1A-4888-A6DE-372EBCA6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57C5B-DF87-4516-A824-84E5B40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UploadController.java:102-205；UploadService.java:70-142,329-430；FileUploadRepository.java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6564B-4430-49C5-AAF5-823B504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15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128DD-9151-4AB0-8B64-11EBDB2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BDDB4-F5AF-43A3-9F6E-8CDEA19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21C73-3F9E-42F9-92E4-FB62BED8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F566B-F551-4666-9DB1-A0D720D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 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DAC6B-B9A2-45F9-AF83-2BFBCE6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首片校验类型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组织上传上限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B7730-8244-4CD7-A256-B2B01831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BC22C-EB87-4053-A29F-8FBAD49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77A1C-C632-420D-9C19-9C4FC0F3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DB345-CD70-4ACB-A92D-B75A9A57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FileUpload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F43B0-A088-4CF5-9ECE-6BA7198D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按 md5 + userId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创建或复用元数据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5B27D-0EAB-4B59-9540-9384BF4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79654-8974-4698-AE28-F69CB3FA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66E78-33F5-40C0-A4AB-2F7361E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0E3D6-00C3-489A-82A9-E488CC2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Redis 位图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20245-EF62-4852-B900-C8AE570B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GETBIT 判断重复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SETBIT 标记成功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A63E1-EB36-4E36-AA82-933E6D2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885DE-852F-4F9B-9E94-C9EF8F2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85FE6-7F51-4F63-B30A-1C9D973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F33FC-2533-42B5-ACE4-C7F9BCC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6596E-E1F6-4DE4-B849-C31EA787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chunks/&lt;md5&gt;/&lt;index&gt;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保存真实字节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AC7FD-3BD6-41C9-915D-9EA1DF43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46BFCB-ADDC-4B19-8D74-B948A9C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25555-67FB-4AA9-91B6-41CF1D7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ChunkInfo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1A0C6-ECA9-40B6-91B4-0F6A589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chunkMd5 / size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形成可核对清单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4E6CA-4AF5-412F-9986-A1B201F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3524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949DA-4053-4A4B-A88E-99A7219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E8E19-C953-494D-9378-11F9A45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Redis：快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960444-3335-42EF-B6FD-27D03D1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3181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key = upload:&lt;userId&gt;:&lt;fileMd5&gt;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每一位对应一个 chunkIndex，用于快速计算进度与判断是否已上传。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DD38A-F7FA-461C-8465-28A20CA4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09900"/>
            <a:ext cx="3524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DBBD9E-0BFF-4B37-A5EF-302CD91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AB2FD1-2994-430C-9728-9EEB0EF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MinIO：真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09191C-3A96-4687-9EBD-FE5D72D8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31813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只有对象 chunks/&lt;md5&gt;/&lt;index&gt; 存在，分片字节才真正落地。合并前会再次检查对象存在性。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D87463-CFF5-4C4A-88F5-F66E949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39243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37B1ED-C0FD-44AA-8A40-73C41520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C9FF89-F96F-4D46-B062-A421DF6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MySQL：可追踪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D92A3-3029-43A0-B78F-22DEF3C7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3581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file_upload 保存整文件状态；chunk_info 保存每片元数据。重复请求会先查位图/记录，避免再次写入。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8FF467-F30D-46D9-9E65-4E8DC755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6D5D56-1C2D-4A7E-B891-C581DF2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6EC6E0-5AAA-478E-BE8E-16290A60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幂等键不是单独的 fileMd5，而是 fileMd5 + userId；数据库也用唯一约束处理并发创建。</a:t>
            </a:r>
          </a:p>
        </p:txBody>
      </p:sp>
    </p:spTree>
    <p:extLst>
      <p:ext uri="{BB962C8B-B14F-4D97-AF65-F5344CB8AC3E}">
        <p14:creationId xmlns:p14="http://schemas.microsoft.com/office/powerpoint/2010/main" val="973637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FAA13D-682F-4340-A819-5E9CB3D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7B363-5037-43A9-8444-F6411688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合并与投递：HTTP 很快返回，耗时解析移交 Kafka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C2B4C-A74C-4058-A7C4-AF89883F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B7179-F0F4-4C05-80FD-AC9FFC1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E4C90-C588-48BB-80FB-3CC39C77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UploadController.java:289-445；UploadService.java:528-653；KafkaConfig.java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87925-473F-44D9-A9C4-DA591F5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16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6F9A9-47CF-4BF2-80B2-F5515C1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F4C6A-0800-4D81-863A-ECB686C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7147A-3C79-4378-B320-6C79288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8A05E-5910-48B0-8591-3731DF5C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校验所有分片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754A5-956F-4F41-B410-80CD5DB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Redis/ChunkInfo/MinIO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数量与对象完整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2BFCC-1973-4561-B663-37435C26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548B-F4FA-4A56-BB58-0FB24E61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859ED-F15D-4953-9D81-7E827DA5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AB482-7839-4C71-80AC-5643A1D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 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9F2D1-7CC7-42C6-96F9-78FD4CB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UPLOADING → MERGING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防止重复合并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49EF1-A2C7-4CEC-9581-AD55CF17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897A8-A956-4398-B926-20A1EDE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AC1B1-7BBC-4C2C-8BFB-5BA913C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EF66E-F78F-4FBD-8046-3E03D936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 compose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D0F6C-D12A-4678-A524-E0AF04E0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生成 merged/&lt;md5&gt;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删除临时 chunks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72701-F253-4AE7-A659-7F7A630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6ED1D-434E-427A-B17B-A50D7AB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63936-6378-4FAE-8E30-E841862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16316-BF96-4FFE-B8E4-248B3F1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估算用量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EBE92-E805-4316-90DC-3B445831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预估 Embedding token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记录 chunk 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24795-45EB-48B1-99C8-583F2B52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45E64-2538-4269-B04B-D39AA7A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6E3EB-A189-4710-9D4F-A16F8CA6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 事务发送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8C181-E31F-4ECB-BFC8-0CC6B820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FileProcessingTask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权限字段一并发送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E133D-9ED8-42E4-8EA5-AE547BB7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641985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9E83E-58F0-4B49-A862-8EB097D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607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5798A5-4229-422C-BCE0-AF13C3F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076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int changed = fileUploadRepository.updateStatusIfCurrent(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id, STATUS_UPLOADING, STATUS_MERGING);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if (changed == 0) return CONFLICT;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objectUrl = uploadService.mergeChunks(md5, fileName, userId);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FileProcessingTask task = new FileProcessingTask(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objectUrl, md5, userId, orgTag, isPublic);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kafkaTemplate.executeInTransaction(ops -&gt;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ops.send(fileProcessingTopic, task));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EC5D2-F6BD-41AA-8AA3-0D7BE47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705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54993-4261-42EE-BF27-FAB002B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为什么需要 CAS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8496F-F93A-4955-B9DD-A37D6C8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436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两个 merge 请求同时到达时，只有一个能把状态从 UPLOADING 改为 MERGING；另一个得到冲突，避免重复 compose 与重复 Kafka 任务。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2E3FDA-878A-42F3-8641-88AD948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47053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33B150-AB36-4D08-8224-36AB4B8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95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响应不等于知识已就绪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55F96-73A3-4B4C-858E-8D2B74CF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merge 成功只表示完整文件已存在且任务已投递。解析、向量化、索引仍由消费者异步完成。</a:t>
            </a:r>
          </a:p>
        </p:txBody>
      </p:sp>
    </p:spTree>
    <p:extLst>
      <p:ext uri="{BB962C8B-B14F-4D97-AF65-F5344CB8AC3E}">
        <p14:creationId xmlns:p14="http://schemas.microsoft.com/office/powerpoint/2010/main" val="3774273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E60809-85AD-49BA-ADDB-4701DDA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B872C-DCAC-4C2E-BDB0-A46447AA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 消费：下载 → 解析入 MySQL → 向量入 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F2021-8B4F-459C-B894-35580F4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48BD0-63D1-4FE8-AD5A-2239241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DCB40-69D3-4AEB-9C8C-55808EB2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consumer/FileProcessingConsumer.java:42-80；config/KafkaConfig.java:100-151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F8430-B91A-4BE8-BB3A-1DCFF586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17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5D109-BE4D-4664-8A3F-9F4FEDD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3983E-12DA-438F-A4BB-5250F17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7E5AF-1A8D-4A40-9FBA-EB305AB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37211-3B4E-4180-B9E2-B97EEA1C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消费任务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9740A-074F-47F6-B696-4DD7EFA7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fileUrl / md5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userId / orgTag / public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6C97F-588F-4C53-936E-CD650B9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C7466-9FC1-4F9E-A1CC-B9DA8FC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17B55-EC93-4BF0-B2D9-A91C42C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06B18-007E-4BDA-B6A5-7C34E287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获取文件流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2CEA2-3DAB-46CD-847E-E652D79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预签名 URL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或本地路径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C87F4-19A3-48D5-8A28-886A3A3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1A4C4-4C3C-4CA8-AA8E-8955E70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D1E90-BF51-4583-B30C-8DC83574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E28F0-9398-48FF-8E19-6491DB05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parseAndSave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73D9E-076C-4DFC-ACAA-0FF7F59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文本块写入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document_vectors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D0CE4-95F1-4025-8A4A-73EB85C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A28D7-EBBB-4C9D-850D-76C369E3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82BFE-DEE8-4950-B9F0-26A7D86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95EE8-EB4B-4748-B0AD-B5EC8B5A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vectorizeAndStore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92C3B-EA85-4296-9980-E7073C33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批量 Embedding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构造 EsDocument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D40F1-9960-41B5-A162-C2C11677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4AF30-8490-47AF-ACCF-042B3B2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7DFF9-DC7F-42B5-BC92-C45AF680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完成统计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EA417-51F4-45ED-A7A4-12FA129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实际 token / chunk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写回 FileUpload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A3DBC-3D78-4FE0-B1B6-EB7E8FF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5905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C77AA-6C32-4AE3-81E9-CF823D4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56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3F08B-4196-407B-A1D5-2766541D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562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@KafkaListener(topics = "${kafka.topic.file-processing}")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public void consume(FileProcessingTask task)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try (InputStream fileStream = open(task.getFileUrl()))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parseService.parseAndSave(task.getFileMd5(), fileStream,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    task.getUserId(), task.getOrgTag(), task.isPublic());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vectorizationService.vectorizeAndStore(task.getFileMd5());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881B72-06BF-4C20-9E47-3906E6C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E73BE-7EC2-4E8D-A353-80ED1C4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C8920B-C7CD-4759-ADCA-7A6C54E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DefaultErrorHandler 使用 FixedBackOff(3000ms, 4)：首次失败后最多再重试 4 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EBC04-B924-4ADF-916C-F1C0E3C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26BCCD-8CB2-49C6-8286-DA6CBCD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死信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1FCE75-B802-4D07-BC2E-52F7D3FE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持续失败由 DeadLetterPublishingRecoverer 发送到 DLT，避免消费线程永久卡住。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C9F762-E802-42B4-BE60-A2CEB355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DA5B18-078E-49BC-9F3C-3DC1800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78771A-3EF8-4A76-B74D-DEFA1A8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排错边界：上传接口成功但搜不到内容时，应从 Kafka consumer 日志开始，而不是回到分片接口。</a:t>
            </a:r>
          </a:p>
        </p:txBody>
      </p:sp>
    </p:spTree>
    <p:extLst>
      <p:ext uri="{BB962C8B-B14F-4D97-AF65-F5344CB8AC3E}">
        <p14:creationId xmlns:p14="http://schemas.microsoft.com/office/powerpoint/2010/main" val="9633355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8AA20-8B5C-4F1C-9048-AA8A613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F06F-B898-4EC4-8AF3-C4F8BAA8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解析分流：PDF 保留页码，其他格式走通用流式解析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6343F-87CA-4BE5-8F98-E39276B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4D345-AFAE-46D1-887A-3C50478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C6AF0-9697-4887-9120-D3AF15E8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service/ParseService.java:72-102,278-391；pom.xml（Tika 2.9.1 / PDFBox）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D507C-1FC3-4DE1-BBA6-26D76960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18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0B1E8-EA84-4920-831E-82B36F4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D5D6A-6A82-4284-A233-92178EF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381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00E45-AFA5-450F-9E4E-242E6792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ECADC-74C8-4F7E-9431-99F9077B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7DA88-143F-4043-88A1-8B40415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62150"/>
            <a:ext cx="44386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15F90-1A77-4DDC-A6B1-2FCECD65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95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PDF 分支｜PDFBox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ECAEA-D86C-4F3C-95BE-80CBC913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读取 PDDocument；逐页提取文本；清理页眉页脚/空白；每个子块保存 pageNumber，便于聊天引用直接定位到“第 N 页”。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CF9E6-C8A0-4F46-8AA8-BB6441D5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38550"/>
            <a:ext cx="44386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AD7DE-FBA4-4F16-A820-E3B24D4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71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通用分支｜Apache Tika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0D530-2BE4-40BD-A73B-9E9B4378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29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AutoDetectParser + BodyContentHandler；支持 Office、文本、HTML 等多种格式；先流式生成较大的父块，再做语义子分块。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92CA3-9AEC-455C-8AF0-47C590BD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57350"/>
            <a:ext cx="51054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2F5A4-C563-4EFD-B81F-B59B3D48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87BDD-7BD0-41DA-88BE-E0B5A51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7625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buffered.mark(8);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byte[] header = buffered.readNBytes(5);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buffered.reset();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if (new String(header).startsWith("%PDF-"))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parsePdfAndSave(...);       // 保留页码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AutoDetectParser parser = new AutoDetectParser();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parser.parse(stream, handler, metadata, context);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300AD-BB33-4982-9ABF-FF5A567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E39A5-9244-49CD-A6C4-019B1B5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191FB-5E19-40AB-AF82-0BF5ED3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与脑图的差异：当前实现并非“所有 Office 都由 POI 手写解析”；Tika 是通用入口，PDF 才单独走 PDFBox。</a:t>
            </a:r>
          </a:p>
        </p:txBody>
      </p:sp>
    </p:spTree>
    <p:extLst>
      <p:ext uri="{BB962C8B-B14F-4D97-AF65-F5344CB8AC3E}">
        <p14:creationId xmlns:p14="http://schemas.microsoft.com/office/powerpoint/2010/main" val="1244826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30C949-8C80-4704-AEA5-078F6EF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DDD43-1D3B-4316-AF4F-E4064BC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语义分块：优先保留段落和句子，再退化到字符切分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6905C-433A-48B3-BFE8-AEC11C2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C4853-EF61-405C-8360-E4540E82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75923-0943-4CC0-A430-497E02CA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ParseService.java:500-643；application.yml file.chunk.text-size=512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B97C5-F280-4A57-8BEF-40FF3A7F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19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C756A-12CD-4D44-AD41-9D21C45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528C1-C2A6-40D1-A864-E029B08C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2722B-3549-4A43-91EA-66E38A1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DB56D-B628-4B16-B429-75B80603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父块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AADF2-DA14-43BA-83E9-AD6DA76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通用解析先形成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约 1MB 文本段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FC2B1-E321-49B3-9B78-91555E3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29E5D-8D09-4B39-B0D3-36947FE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BD87B-3758-4F93-9F02-51540E2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0488B-06A6-401C-A954-11ED8D0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段落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684C4-7690-4F23-A2DC-0E6367DF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按空行 / 换行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尽量保持结构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E3BAD-1FA9-4F26-B797-D60049DD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BEACC-C5B7-4245-96BC-CD56E5F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160CD-29C5-49DD-BA5B-3704C07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FD5D0-FD50-4599-9EA0-97111B7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句子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A5B60-9B54-4700-84AC-AC3340E0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标点拆分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不超过目标长度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BF266-9114-41A4-84B3-DA24A47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621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A3701-6A6B-4213-85AA-9B503A3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EE6EA-83AD-4EAC-91BD-6E9BA4C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50FFC-0042-4780-8E9C-FCE15E23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HanLP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6B909-1538-494F-95B0-FFF3ED6C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中文分词辅助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控制边界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62E2A-B2DE-43C4-8AC0-FBB73FFB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BF66C9-87F9-47B3-93F1-606415F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283AF-2D56-47EA-8DBA-593D883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字符退化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2DEE1-B417-46F9-B7D6-FE9E9736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极长无标点文本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强制切到 512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7B846-980F-4358-938C-88B1629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524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A6FC5-73C3-43B4-9482-9C461EC2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8143C-5894-4F52-A3F8-A8C8011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为什么不是固定截断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07807B-2C6E-4D8E-AEE7-B9C105A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3181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固定每 512 字符切开会把标题、句子或语义单元从中间截断，降低向量语义质量，也让引用证据难以阅读。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A648D-E3DD-43D2-9998-CE9085B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3524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45FD0-D339-4A33-98F2-A47559DF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6E94A-354E-41AB-BCA0-475E34E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每块保存什么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D040A1-8CF7-4599-BB00-45AE405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3181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fileMd5、chunkId、textContent、pageNumber、anchorText，以及 userId / orgTag / isPublic。权限字段从这一层开始与文本绑定。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6115B2-4253-49B8-9FBA-9DEEBAC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3924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5C2DA4-6BA6-452E-ACFA-052F2D78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405CA-80BB-49B1-BC0E-EB4AA27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调参影响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DF6DF1-1427-40AB-A0AC-135C6E8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581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 太小：上下文碎、请求多、成本高。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chunk 太大：召回不精确、Prompt 膨胀。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改 text-size 后应重建知识库并做检索评估。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0B0E3-3EA0-4B40-A079-2080A5F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38DB35-0B08-497C-9BAD-220B77D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D50050-519A-4E14-BBF0-3BEC68B6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默认目标文本块大小为 512；PDF 分页信息会随块保留。</a:t>
            </a:r>
          </a:p>
        </p:txBody>
      </p:sp>
    </p:spTree>
    <p:extLst>
      <p:ext uri="{BB962C8B-B14F-4D97-AF65-F5344CB8AC3E}">
        <p14:creationId xmlns:p14="http://schemas.microsoft.com/office/powerpoint/2010/main" val="207898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D9E0D-0C39-4DC7-87CB-D49A874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1435-CBF3-44B1-AC1E-F0CFBC4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向量化与索引：同一文本块在 MySQL 与 ES 各有一份职责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94D67-F4D5-4463-85D7-958D524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0AA5F-18F1-491B-92FB-EE125DC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A403D-6BA7-4CA5-B8D2-60E0B55B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VectorizationService.java:47-96；EmbeddingClient.java:77-103；ElasticsearchService.java:34-68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A1A32-72B3-4D84-9825-F082507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20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AFD25-5641-451D-945A-6B46A75E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MySQL document_vectors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3B097-08B0-441F-9FB5-C6FA865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Elasticsearch knowledge_base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87B0A-6AC9-42AD-85B7-625326B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0957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61D17-2C8E-460E-BB01-1A990A9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可追踪的原始分块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6183F-B4EA-424E-A6F4-29CEBF5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3752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fileMd5 / chunkId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textContent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pageNumber / anchorText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userId / orgTag / isPublic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便于重新向量化、审计与关系查询。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94E6C-5184-4FDB-8B39-97BD19A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A6D1D-8640-46CD-A3AE-9B5AB0A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52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EmbeddingClient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149C0-6E1B-4863-AC77-49CBC8E4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批量请求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限流 / 额度预留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失败回滚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2E4C3-512A-403D-8C0F-0848842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50673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33D1D-9205-4FE4-A687-B43DE9B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193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用于检索的索引文档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89797-D1AF-473B-AEC1-F22822B7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4724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textContent（IK 分词）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vector（dense_vector, 2048, cosine）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fileMd5 / chunkId / pageNumber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• userId / orgTag / 公开标记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bulkIndex 一次批量写入多个块。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9B687-C151-41D6-A5E4-C0750083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1391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852EC-E6B8-48CA-BEC5-5373215C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CAC9B-640B-4DE1-AFF8-0000D916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float[] vector = embeddingClient.embedWithUsage(text, DOCUMENT, requesterId);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esDocuments.add(new EsDocument(text, vector, userId, orgTag, isPublic));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elasticsearchService.bulkIndex(esDocuments);</a:t>
            </a:r>
          </a:p>
        </p:txBody>
      </p:sp>
    </p:spTree>
    <p:extLst>
      <p:ext uri="{BB962C8B-B14F-4D97-AF65-F5344CB8AC3E}">
        <p14:creationId xmlns:p14="http://schemas.microsoft.com/office/powerpoint/2010/main" val="12892152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743DDD-B5AF-46ED-B700-78225A3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文件上传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3ADA7-C194-4F7B-821C-20F02172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上传状态、存储键与排错入口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4E48-4560-4022-AD5B-FA904C8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5F2F5-2E2D-45AD-9C5B-1EDC026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531D6-B490-4DF5-9834-23ED5A3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UploadService / UploadController / FileProcessingConsumer / elasticsearch-mapping.json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E4D5-0C56-4978-B298-B8E42550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21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4064-A95B-4F8D-A84A-A0F3644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A8E83-67EC-465A-84E6-A8BC9556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668ED-DA0A-4F51-BCB6-2D4E7B9E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3716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A5988-1395-45BD-8883-756E756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4478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关键状态/键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E62C-C9A7-42BE-A25C-F568A46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3716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862B9-F896-494A-A72B-7D3DEA2D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4478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667E7-5439-413D-8CAA-3E450DB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716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D002D-41A3-417B-B7F3-BDFCD4E9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478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失败时先看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A645B-0DC4-45D1-B11D-0B2EA44C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C2F1-FA52-4EEC-82A6-FA399DCB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9A1C6-A85D-497D-A346-8F9E8B53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955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20A93-96A3-4FD8-A43A-2DAADCC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717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upload:&lt;userId&gt;:&lt;md5&gt; 位图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chunks/&lt;md5&gt;/&lt;index&gt;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40D92-FB3A-4A48-9250-F524434F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DB44A-2A0A-43DA-89A4-A3CC3B11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717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UploadController / UploadService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8E6C0-1D81-4165-B180-BDCBF6A8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C6773-5FA9-487F-AFA1-4A7AE88C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717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HTTP 返回、Redis 位、MinIO 对象、chunk_info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6119E-CBFF-4AF0-8015-AFC0C39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75201-AB26-4609-BC32-55421B06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43D33-613E-4528-8553-6D2BCF0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194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6A185-9CBD-45FE-AC21-BD23697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956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UPLOADING → MERGING → COMPLETED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merged/&lt;md5&gt;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1CE7E-27EE-47C6-A151-E33972C7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194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5BAEB-C65C-4758-AE70-3E1525C8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956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UploadController.mergeFile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UploadService.mergeChunks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D9537-06E4-4BE3-A993-E307EF33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CE9FD-9D78-4C8F-8BA1-67528AB6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956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CAS 返回值、分片数量、compose 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D7516B-00F2-40B7-836C-68C07B5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B48FE-B688-4F7A-A30C-9562E50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投递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C89A14-BCB4-489D-A9CF-F6596E0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433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6F1D6C-1839-4CB4-8FB4-0FE68113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19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file-processing-topic1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5EF53-11AA-4D5F-BDF3-F406DBA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C767CA-2AE6-4795-A55C-F62A45DB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19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KafkaConfig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FileProcessingTask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26AB5-AE12-4AE0-AF0D-D8B50A5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433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C6A7E-FEE5-43E7-B435-29F1640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195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生产者事务、topic、序列化、消费者组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0D664-A114-4E64-B389-F08C6F0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25F0AB-E11E-4306-BAAD-8800B50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FE6B2C-285E-4185-8F01-335307F1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672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DCD7A7-4355-437A-97B0-2DD2223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43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document_vectors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A3BE20-1AB9-4749-9D1E-20DAF41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672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790791-A3D9-4D5D-809A-332A90B4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434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FileProcessingConsumer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ParseService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63F84D-D77C-42D8-BEB2-BD29A4B1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672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7EA54A-20B4-4E19-9AF1-05E7BB0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3434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下载 URL、格式探测、分块数量、页码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B068CC-29B9-4477-B9DC-261D6A2A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DF8734-D06E-43F5-B5F7-5534122A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C7A14D-A574-45D8-8AA0-2CB0060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911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8287FA-40A9-4234-815E-CEC3EF3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673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knowledge_base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24AF46-BB19-44DE-AD40-76D29CF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9911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689B05-C256-4537-9C79-790DB39A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0673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VectorizationService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ElasticsearchService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E256E9-A984-4ABD-BA0B-C14D8D2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911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964287-AF3A-43B6-8855-C2746B3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67300"/>
            <a:ext cx="3248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Embedding 响应维度、bulk error、索引 mapping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567B1E-9904-4922-B87B-16EFAA2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7BF4E1-D334-49DD-95CE-3B8432E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D80029-92A0-4E3C-BBE4-179FD48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判断“上传完成”要区分：文件合并完成 vs 文本解析完成 vs 向量索引完成。</a:t>
            </a:r>
          </a:p>
        </p:txBody>
      </p:sp>
    </p:spTree>
    <p:extLst>
      <p:ext uri="{BB962C8B-B14F-4D97-AF65-F5344CB8AC3E}">
        <p14:creationId xmlns:p14="http://schemas.microsoft.com/office/powerpoint/2010/main" val="17324096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05C4E-6832-4725-BCA3-4DF06FF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C7E9D-35B4-4ED8-A208-7DC5E12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文件知识检索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5CF3-EE9D-46FE-8A61-5FFF2EC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rPr>
              <a:t>先把问题向量化，再同时要求语义相似与关键词匹配，最后把权限条件下推到 ES。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0A25-F713-497B-89A0-2AFF2DE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960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2FCB-101E-4EC4-96EC-1F04317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843EE-D756-4B49-95AD-4EEF1A3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7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F25B-23C2-4202-BE0F-46AE04CE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GET /api/v1/search/hybrid?query&amp;topK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5FDF1-F298-407F-B88B-B5E9739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51977-666C-4EAF-B72B-95B8213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查询向量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2D736-A7AC-4023-89B5-0BF3F3E0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24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QUERY 类型 Embedding，独立限流与额度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19BDD-806E-4A72-80E5-EC68594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DD903-487E-494B-AF79-01198FB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混合排序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71AE-D6FE-4D43-AB06-014993B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KNN 大召回 + AND match + BM25 rescore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8AFD7-952E-46A6-84CC-BFA38FC7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A6622-131D-404F-9F87-DEDC9E5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权限与证据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500E-4894-4272-8704-7C13236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本人 / 公开 / 组织；补充文件名与页码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0B75C-5D20-47F7-BFE7-E213C48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rPr>
              <a:t>22 / 37</a:t>
            </a:r>
          </a:p>
        </p:txBody>
      </p:sp>
    </p:spTree>
    <p:extLst>
      <p:ext uri="{BB962C8B-B14F-4D97-AF65-F5344CB8AC3E}">
        <p14:creationId xmlns:p14="http://schemas.microsoft.com/office/powerpoint/2010/main" val="8931523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A2EA37-4E9A-4539-8D3E-E8A7C7C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E9FA7-AE1A-43DE-92C3-92B50141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检索请求链：前端传 query，身份来自 Filter 而不是可信参数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FE596-1637-4984-BF00-57C6D126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77EC4-0C10-4859-9330-476598D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8E1E5-16FD-4861-8B23-C1251AFE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frontend/src/views/knowledge-base/modules/search-dialog.vue；SearchController.java:47；HybridSearchService.java:63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310C4-1ED8-4091-B7E8-9E182BE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23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46483-5516-4157-BD86-6FB86E73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07E28-43C6-42D2-8BD1-F5AE55E9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D6B32-A28C-432F-8259-F452013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0CAAE-7B5C-4B5A-A371-C71053FA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SearchDialog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2FD7-7381-4C7F-A70F-4A90E3C6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query / topK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展示 score、来源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A9E5A-C1FB-40DA-AD81-DE6615C7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02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8BCA6-B7E9-48C0-938C-F5E7E870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9DE04-9308-4550-9F0A-890E3EF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E72BB-14C2-40AF-AC8C-361FF03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GET /search/hybrid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80D30-AB56-4AD5-B832-3F2F942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Authorization header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userId 参数不应作为信任源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96DB4-B865-4E91-B837-910C4B7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F9324-A023-4103-8169-B1D87A0C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D63C3-BE74-4ACB-AD39-6999CD3B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F472D-A730-41F5-81FF-733E297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OrgTag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04B50-D8D6-4A72-9098-C2E78C1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从 JWT 提取身份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放入 request attributes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6B42B-1385-4FEB-A0EE-B8172E6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18CFA-2F38-47F4-A309-B05EEE1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501D3-EAEF-48AA-A617-09468E48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D777B-8349-4EA5-A2C6-2EC2008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SearchController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DCB7C-325C-4E72-ACD9-61C41D5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读取 userId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调用 permission 版本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D22C1-CF41-4594-B672-4E99AC3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7C48A-BD68-4B3D-9246-9AE2DC1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ACE0B-FD87-4065-879B-A8D84C9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HybridSearch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20765-198F-4F51-8AD7-3C425AB8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向量、ES 查询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结果补文件名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8DB2A-69D9-45CD-BCF7-1F527BD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55816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8B906-D294-4006-82EC-D339D5A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F8CF1-B110-4F20-A9F2-0BEAF10D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5238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@GetMapping("/hybrid")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public Map&lt;String,Object&gt; hybridSearch(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@RequestParam String query,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@RequestParam(defaultValue="10") int topK,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HttpServletRequest request)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String userId = (String) request.getAttribute("userId");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return searchWithPermission(query, userId, topK);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318AA-BF62-4ED6-8F25-59FECC45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552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FCA87-A17A-4344-8E89-A4A1B823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为什么不信任前端 userId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1AF37-3242-4238-B493-5E61DE12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任何用户都能修改 query string；授权身份必须来自已验证 JWT。前端传 userId 只能算兼容信息，不能成为权限依据。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42783-8B7F-4924-9C24-BE44493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552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E311CF-A050-4386-9BE8-DEA62B34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降级分支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5A16CC-5DFE-4FC2-B4CB-56647FC9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如果查询 Embedding 失败，服务会退回带同样权限过滤的 TEXT_ONLY 文本检索。</a:t>
            </a:r>
          </a:p>
        </p:txBody>
      </p:sp>
    </p:spTree>
    <p:extLst>
      <p:ext uri="{BB962C8B-B14F-4D97-AF65-F5344CB8AC3E}">
        <p14:creationId xmlns:p14="http://schemas.microsoft.com/office/powerpoint/2010/main" val="104523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828C1D-1F95-4455-B5F6-66553FC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1B5F3-F59B-4D23-85AE-38817D0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混合检索不是“向量分 + 关键词分”简单相加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C7AAD-8CF8-4204-BD99-E9F4D0C8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CE7BC-89EC-460E-97EF-047B545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88C67-15A1-4793-BA23-07E67FA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HybridSearchService.java:63-171；elasticsearch-mapping.json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C67F8-6248-4DBE-AC5C-BF1BACF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24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7FCC1-4DEA-4466-980D-AA905AF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FA46E-CB13-4935-BBAF-10577FE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885D4-D626-4446-BD8D-F952EF4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40ACA-8213-446C-BF68-E2866F5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14BDD-1299-43F8-A468-86BCB006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问题 → 2048 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用途类型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0CFC7-07EF-4C3A-9080-EC57024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2734-F2FE-4841-9AC3-B168FFB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BB6D6-DD8D-4FA9-AA4E-31F4235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2D925-D268-4C2D-9517-77C7817C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KNN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5F505-E2B2-46C4-B275-5298646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 = topK × 30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扩大候选集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0447B-A1C7-4D52-AF18-217FDC88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F79A-945E-4F9F-90E7-80DB4C9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05C28-BE8E-4C74-B408-8AF41E7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3BACD-0EAE-4A2D-AA0E-4067824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AND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ADA4E-8C7D-488C-B70C-335A05E5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textContent 必须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匹配查询词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2F387-AF98-4C86-BD89-A634A6B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66AF0-4FAD-4AF8-89A3-D30B433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B59D2-4679-49BA-8976-6D0598E3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0DF92-652B-4A46-BA1B-86F50B65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BM25 rescore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66A2E-7E64-47CE-8194-C46C1C3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window = recallK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queryWeight=.2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A6E0D-D2DC-4408-B432-653B3D4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02310-E3A0-43E9-95A1-198F641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FF4D7-8BDD-4492-841F-4830D872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EA038E-1F83-448E-9649-8D64E76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按最终 _score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输出证据块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8EB17-3AD8-4F90-8FEF-2FE2AAE9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6385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B42DA-CEC9-49F8-BF87-FFBD8FA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CD01D-1228-400E-BF1A-E7F6705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第一阶段：大召回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8A1CE-B3B9-49F7-81BB-46075EC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295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KNN 用向量相似度找语义相关候选；recallK 放大到 topK 的 30 倍，为后续关键词重排留空间。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801132-4693-442D-A3DD-3E94621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36385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83526-224B-4373-87E1-475A2C8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24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9E22E9-435F-452C-8627-41FC43F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硬约束：关键词 AND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FE4966-FE8B-4E64-B29F-FB8E04E1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3295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bool.must.match(operator=AND) 让候选仍需满足文本匹配，避免只有语义相近但缺少关键实体的块。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07C2E4-DE7A-41D8-9678-4E00BEAA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90850"/>
            <a:ext cx="36576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0F88CB-A2C5-4B78-86AF-4D0E221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B15C6A-72E4-442A-A35D-E75505D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第二阶段：BM25 重排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790764-CCB9-4979-AF79-7596AAA9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3314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rescore 对候选窗口重新计算关键词相关度；最终 score 融合原始查询权重 0.2 与 rescore 权重 1.0。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902113-504F-43F2-BADC-77080F7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783E23-9691-46D6-ABCD-6AD2C52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25D0F1-776B-401D-B188-6407607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TEXT_ONLY 降级仍会设置 minimumScore，并标记 retrievalMode=TEXT_ONLY。</a:t>
            </a:r>
          </a:p>
        </p:txBody>
      </p:sp>
    </p:spTree>
    <p:extLst>
      <p:ext uri="{BB962C8B-B14F-4D97-AF65-F5344CB8AC3E}">
        <p14:creationId xmlns:p14="http://schemas.microsoft.com/office/powerpoint/2010/main" val="11703528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91808-F8AD-4BFF-97E8-743AF06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A998C-A5C4-43F4-B650-68823D6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权限过滤下推 ES：召回之前就排除无权文档块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A98D-EE34-4032-A4B9-54E5EDF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92A99-D65F-4147-9CB4-7A31D4D6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E8F82-BCE2-4AED-8EBF-6BA08D4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HybridSearchService.searchWithPermission；OrgTagCacheService；EsDocument / elasticsearch-mapping.json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FDBC-C76F-454E-9D81-72B5D63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25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9B501-A890-4C86-B5BE-F04BEB6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C1DD0-53B8-4C22-AA51-276232A3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ES BOOL FILTER (概念化自源码)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F5E65-ED5C-4C76-BB95-D2EE2A0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610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permission.should(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term(userId == currentDbUserId),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term(public == true),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terms(orgTag in effectiveOrgTags)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).minimumShouldMatch("1");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query.bool.must(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match(textContent, query, operator=AND),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permission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D9ABB-FB19-4161-BB50-9306653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66850"/>
            <a:ext cx="6134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366A2-EB3A-492E-947A-C1A3F91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02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effectiveOrgTags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6CD7C-8BE7-4711-BD16-C2A86299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579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由用户原始组织标签经过层级扩展得到；搜索与文件列表必须复用同一口径，否则会出现“列表可见但搜不到”或相反。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5A225-CF54-42D4-AEDE-440F2511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19400"/>
            <a:ext cx="6134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D1B04-0566-4FAA-AB47-1D343B4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为什么要在查询阶段过滤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7E825-E5BA-436F-B28B-2F5514C9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579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先召回全部再在 Java 里删除，会浪费 topK 名额，也存在越权数据短暂进入应用层内存与日志的风险。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B7314-1C2F-4FC2-899F-7240125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613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21781-51FB-4399-A884-A5FB94D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053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需要核对的字段命名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18BCE-E04F-4198-AD24-1CFB475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mapping 使用 isPublic，而查询/JavaBeans 序列化处出现 public 字段写法；重建索引或升级序列化器时应验证实际 _source 字段名与查询一致。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1FAFE-2A23-4213-AC1D-3D7C614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4B0D0-58ED-4164-BBC7-69033935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6C074-0595-486A-B161-534999FE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安全底线：如果 userId 没有被 Filter 注入，不应回退到“无权限过滤的搜索”。</a:t>
            </a:r>
          </a:p>
        </p:txBody>
      </p:sp>
    </p:spTree>
    <p:extLst>
      <p:ext uri="{BB962C8B-B14F-4D97-AF65-F5344CB8AC3E}">
        <p14:creationId xmlns:p14="http://schemas.microsoft.com/office/powerpoint/2010/main" val="17623732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202B66-BFC6-431E-9917-7F7A3D94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86A27-70B9-4A8A-8B5B-84DB8EC2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检索结果既是排序结果，也是聊天引用证据的数据源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E200-D908-4526-B5C4-73988060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CD4E4-7BD8-4E30-A342-AC53843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CC6A1-8C94-4D74-BCD6-9CCBC14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SearchResult.java；HybridSearchService.attachFileNames :480；search-dialog.vue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CA635-E56C-4FE7-9C46-DB0DC69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26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2893E-1C9A-44F6-8941-580BF0A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79F18-07FB-487E-8218-4383383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18644-F1AD-44E9-9639-BC427C0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90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69B55-557E-4F72-BB03-9B5DB3C4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66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A90D4-2CA5-4C0C-A0E6-B4F87868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90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ADA4C-B952-45E7-B416-06BD413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66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5188E-18B0-4F18-8583-64B5925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301C9-C787-4A53-990F-734B349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进入聊天后的作用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0B0F4-5C28-4F6A-B154-E296936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B7E87-8C0F-4B2F-B861-1261AE8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textContent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80A9F-0C23-4407-BB5B-9EB5B783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0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B35D-4DEA-478F-B820-D25617DF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 文档块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D94F1-728B-4AAE-B732-2FC1A12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D5180-8744-40DD-81C7-4D211A0F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76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搜索列表正文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B52F3-E9D5-4B2F-AABB-AD0D569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5CFA1-E459-46EA-A187-47176060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截断为上下文 snippet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D2D68-BE26-4A35-A98D-1F3B72B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F922A-E72B-4F99-BD38-8DF14A9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score / retrievalMode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55640-64C3-478C-914D-DCA106C2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586FC-7586-4BE8-BCF0-4217D6E5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86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 _score / 降级分支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38384-78F7-4096-B503-6AC38FC3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F0539-EA48-46B8-A6F1-80CA3F6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说明排序与模式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76E56-B3DB-4532-A9E0-A517E6C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7B138-414B-4C60-8B85-AD26B85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 retrievalLabel、证据解释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65032-5F3C-4280-992D-653C2C7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47A8DD-12FF-4282-BA59-AA341CF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fileMd5 / fileName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CC5487-3E2E-4F52-B8E5-5AA23A7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FCA00-72E3-4DD4-8740-EFC7507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ES + MySQL file_upload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9F0F9E-9796-420A-B5A3-A4A32B05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194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3FA26B-D8AB-4F14-A9B2-FC4508B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95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展示来源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FCD7DC-1BD0-4C2F-AB26-9EC10AA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56EED3-AD1A-47DA-88AA-BD5ED3BA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引用编号映射与预览定位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594C9-CF21-4CEC-8165-C99B999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7F1B1C-1359-40A0-B85E-80F3B4FD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pageNumber / anchorText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0EBFE-BEF8-471F-B10F-4EA4F87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2CACFB-BA2A-4C39-BCA7-3E3DA8C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05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ParseService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BCAECA-D4FE-4803-BBD4-FBC95F9B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290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46AD6-1E05-4E90-9152-F9EA4CFE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05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定位页和语义锚点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90188A-1586-4723-8F91-6ED508A0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19DCB2-D845-4372-ACC5-DCD0017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来源#N: 文件 | 第N页；证据摘要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404470-9AE0-404F-BAD8-EF3390E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BE131B-004D-4534-9704-CC0B0E9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matchedChunkText / chunkId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664EAB-B272-483B-992D-2951C48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38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4AF99-B050-439D-B149-B4ECDF3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14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HybridSearchService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69DD7C-63A3-4BCA-B2C8-489CD7F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4C0EE5-8EBA-4CE3-8099-01CB87A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14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保留命中块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7B2ED9-84FB-4C4B-9AA6-750AEBD3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B736F6-82E2-4E90-BA75-90E3ED68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引用详情页显示完整匹配证据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1BF8A2-546D-4850-A980-84A6E65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62B9B9-31D6-41D8-A672-98ADCD93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userId/orgTag/public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4E9BDC-703B-4660-B614-91858B5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48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08A4CD-05EA-45E2-8011-BDFE8E1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索引权限字段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DD8C7E-1351-40DD-8330-6AD95638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48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7B66A1-54A8-4B98-B86A-9E09CD41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24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不直接展示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F389A0-1A78-4780-B568-4CD63A21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40149E-70C8-47E0-B22A-6B6D720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244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决定是否能被召回和预览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B4A5F4-5E62-4502-B67F-847D421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B8AFA8-C3A2-41FB-AEB5-2A58741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4890A9-6128-4315-8A12-3FFD239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建议调试：搜索同一句话，分别记录 query vector 是否成功、retrievalMode、TopK score、文件名补全与页码。</a:t>
            </a:r>
          </a:p>
        </p:txBody>
      </p:sp>
    </p:spTree>
    <p:extLst>
      <p:ext uri="{BB962C8B-B14F-4D97-AF65-F5344CB8AC3E}">
        <p14:creationId xmlns:p14="http://schemas.microsoft.com/office/powerpoint/2010/main" val="19371081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46DF9-D51F-44AC-A717-E4E96832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71456-E7BD-4B0D-A785-6232B425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CF78C-C96E-4A0C-830A-4841E8C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4E3"/>
                </a:solidFill>
                <a:latin typeface="Microsoft YaHei"/>
                <a:ea typeface="Microsoft YaHei"/>
                <a:cs typeface="Microsoft YaHei"/>
              </a:rPr>
              <a:t>聊天链把“身份、检索、历史、提示词、模型流、引用预览”串成一个长期 WebSocket 会话。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AA3F-1E98-4C46-9D34-3F2E1D6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960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0CB97-1144-4D90-B35F-613EC63D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88B19-E7AC-4A7C-94B8-97823A1A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7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7547-EE97-41A1-A532-6A39D1E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239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JWT 路径鉴权、20s 心跳、失败重连策略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4B48F-1F2B-465F-B8E0-41AFABEC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54A8F-3953-4F18-AC57-208215D2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D3B46-F3DB-469A-A79E-7446606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24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限流 → 历史 → 带权限 Top5 → 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DAE2D-8AE4-4632-B7D6-C9815DD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0AA8F-1F3E-4612-A5AA-640526A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流式回答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D3175-3103-43A8-9FB4-CA0D6A6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OpenAI 风格 /chat/completions，chunk 回传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09377-0083-48B6-9CB7-CB33747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B167-1344-42EE-8242-790CE23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2E4DD-B90D-4369-BFFA-A3C67F18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Redis 保存历史与引用映射；点击预览原文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B7715-F3D3-492B-A71D-FA6D886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1B7"/>
                </a:solidFill>
                <a:latin typeface="Microsoft YaHei"/>
                <a:ea typeface="Microsoft YaHei"/>
                <a:cs typeface="Microsoft YaHei"/>
              </a:rPr>
              <a:t>27 / 37</a:t>
            </a:r>
          </a:p>
        </p:txBody>
      </p:sp>
    </p:spTree>
    <p:extLst>
      <p:ext uri="{BB962C8B-B14F-4D97-AF65-F5344CB8AC3E}">
        <p14:creationId xmlns:p14="http://schemas.microsoft.com/office/powerpoint/2010/main" val="15367962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2B638-9791-407D-AC30-9A5722E1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7D338-6ED6-425D-824A-3CCF458C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WebSocket 建连与协议：HTTP 鉴权被拆成“路径 Token + 握手校验”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539A2-6ED6-42AB-BAA6-5497F7A6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88BD3-C6ED-4949-B929-25A9F5FE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5A4AA-7434-4C45-84AC-9FAA061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frontend/src/store/modules/chat/index.ts:23-79；WebSocketConfig.java:25；ChatWebSocketHandler.java:48-163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C8E19-8C30-43BE-BE60-F3C5BCFE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28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90C13-29A9-4401-8470-D6AB416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94A99-FC5C-4846-B171-2EE12B9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D87EE-916C-4872-A560-0B635A3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393FD-2A02-41FA-8AF0-D8F79C8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计算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DBA2-FBD1-4AE5-9C64-04006D0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/proxy-ws/chat/{JWT}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Token 先 URL 编码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5C20D-3962-43F6-A84E-532442BE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3E996-0E6B-412A-B5EE-06880A9E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EC44A-680A-4DC2-84D2-0F689B9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359BA-99A0-48A7-8FEA-DD23CABB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握手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8CB96-8959-454A-9033-BC5957A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后端 /chat/{token}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校验 origin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0B071-489F-424C-B2D3-8FC88C9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574E4-3F39-42B8-A2E8-9330CA2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27697-8A3C-4F09-B1EB-958BB4BC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FA61D-99F6-4F93-94A3-06D44D56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JWT 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24232-2B1B-4CA8-8E5D-9B82412D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validateToken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失败 close 1008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4CFE4-B600-4ABF-A76A-4123BE7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907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104A1-F9FD-405D-84D2-219E659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AA549-1E4E-4DAD-A45A-266914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DB832-9E93-4004-9804-CA3F5D1E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连接确认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A1409-A981-4088-9FCC-0EC1F2E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{type:connection,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sessionId}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F353B-0216-494B-869C-5313BB2B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171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6BFB0-4E76-4704-AE02-93E9778C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43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FCD2F-1577-40D8-B35A-E53D6C87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240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长连接保活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C0EE1-3E15-41DA-8056-83D6DEB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每 20s ping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10s 等 pong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5EEF9-2FF8-45D9-9C39-4481E261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52197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6AA89-014F-4E52-8DC2-EE3AFAB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26662-9C08-4548-AD76-97223790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876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useWebSocket(socketUrl,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heartbeat: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message: '__chat_ping__',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responseMessage: '__chat_pong__',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interval: 20_000,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pongTimeout: 10_000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autoReconnect: { delay: 1500, ... }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DEE714-A0A3-4343-BB3B-B4FADB6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588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E6BE89-E39B-4FC2-97A3-3D5D7FBB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sessionId 的用途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C8B9C-6966-4761-874B-62F457B8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554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它不是用户 ID，而是本次 WebSocket 连接 ID。ChatHandler 用它保存流式响应构建器、停止标记与“引用编号 → 文件证据”映射。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462DC-B525-4068-A8D1-9A99C8E5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5886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EB9F44-3D56-4918-A3C9-81AFE8A8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624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鉴权失败不盲目重连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E0802C-A6C8-48D1-86FF-88D30BF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43450"/>
            <a:ext cx="554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前端在 1002/1003/1007/1008 或握手前关闭时停止自动重试，并提示重新登录，避免用同一失效 Token 无限重连。</a:t>
            </a:r>
          </a:p>
        </p:txBody>
      </p:sp>
    </p:spTree>
    <p:extLst>
      <p:ext uri="{BB962C8B-B14F-4D97-AF65-F5344CB8AC3E}">
        <p14:creationId xmlns:p14="http://schemas.microsoft.com/office/powerpoint/2010/main" val="21158243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E71F5A-7BF4-48AA-8DE5-F998F58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42329-F2CF-4696-8AE5-B10D6EB8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ChatHandler：RAG 的真正编排中心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15BAF-0E9F-4486-A1B1-2E98A1F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C4CDA-DFCC-470A-BEEA-9A2E3495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4B3FF-9B85-4867-9C86-41FFA54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service/ChatHandler.java:69-118,197-348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0FFCD-D044-4A4C-988F-97BBF9D9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29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AA3CB-C8A2-494C-A2D0-13A14213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526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E4055-93A4-4120-AC95-8124342C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C96A0-D46E-4350-822D-220CA88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63182-F4D5-49B0-B20E-CD992B04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E7F48-C9CD-4EBB-91B0-E57CE33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checkChatByUser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超限回 429 + retryAfter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A1AD3-0A86-431B-BA69-12E3A4D3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526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18E0B-001D-4361-91FF-A37F8E9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826A-A297-491B-B9C3-B656E18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D8975-8CBD-4ADA-B84A-17B621C3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CD193-969A-4ECF-8781-E533B02B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user:&lt;id&gt;:current_conversation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7 天 TTL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D3849-5A8F-4F5D-AFC3-C03A032C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7A132-332A-44D8-A4F5-6AB470DD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DA929-97AB-47C3-A173-6858DB1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49769-1CCF-4AC8-B72E-21CA0D3D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B2F5F-C881-4FC6-9E7E-37583691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conversation:&lt;uuid&gt;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最近 20 条消息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0CF9A-C641-4F04-95E6-B8F9D611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648EA-9E38-436F-ADA2-0B00F17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47315-0BB2-4881-89A2-94B03AB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94706-5F93-45C7-9C00-F445D0A6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 5 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56E01-E1DE-42B0-ADF8-D76D992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searchWithPermission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问题本身作为 query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DDF3C-0D16-40EE-B5C1-F990589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526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1A1AC-FA9A-49D1-803A-4541F7A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82502-5B67-4532-8799-A770550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DACDE-FBD7-44E5-B41E-64F74534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 + 引用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29A09-035E-4983-BE47-4BBF7E5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[1] 文件 | 页码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session 引用映射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2D290-7A6E-494F-9236-8C2F81C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390650"/>
            <a:ext cx="18192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DB68E-1E4C-4CE5-AF87-390FE60D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D9B18-5CA4-427A-A7E0-96C288A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E8828-77AB-4AB8-AE20-9AD9227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66900"/>
            <a:ext cx="1552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streamResponse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每块发 WebSocket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FB8D8-EED4-4EAD-B2C8-1B4B7B2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683895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AB3BF2-240D-4370-9470-E303AC4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649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C9EAC-F63C-4094-B0A7-BAB4A41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64960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rateLimitService.checkChatByUser(userId);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String conversationId = getOrCreateConversationId(userId);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List&lt;Map&lt;String,String&gt;&gt; history = getConversationHistory(conversationId);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List&lt;SearchResult&gt; hits = searchService.searchWithPermission(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userMessage, userId, 5);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String context = buildContext(hits, session.getId(), userMessage);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llmProviderRouter.streamResponse(userId, userMessage,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 context, history, this::sendChunk, this::handleError);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362855-FF20-4794-BA89-B91A662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4267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C55CA5-06D5-4E3E-B033-74EEA6C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61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无检索结果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99A0FA-D5F9-4F40-9E66-BA08F9A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buildContext 返回空串；LLM Provider 在系统提示词中插入 no-result-text，要求模型明确说明没有找到知识库依据。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D57BB6-7247-4012-9B60-B55C3A7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4267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B868B9-E383-4568-BDC8-B04E56F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上下文长度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462F7B-E8B6-44A5-AC1D-684FEB8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0060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每条检索 snippet 最多 300 字；匹配块用于引用详情最多 800 字；证据摘要最多 160 字。</a:t>
            </a:r>
          </a:p>
        </p:txBody>
      </p:sp>
    </p:spTree>
    <p:extLst>
      <p:ext uri="{BB962C8B-B14F-4D97-AF65-F5344CB8AC3E}">
        <p14:creationId xmlns:p14="http://schemas.microsoft.com/office/powerpoint/2010/main" val="12955573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9EE6E-2D8B-44DF-99E9-A1130D9E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053E-5A2F-4D72-BF68-7F1E0CA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与模型流：规则、证据、历史、当前问题按顺序组装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7B378-9B6C-46EC-A972-79FCFE2A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AE17B-5C69-457A-95FD-A3118FAE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42AC5-0E11-4699-8297-DDAAAA5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LlmProviderRouter.java:41-210；application.yml ai.prompt / ai.generation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A6591-6991-4CF4-A548-9A2372A5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30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3AD9D-B9C9-458F-9E1A-B6427B07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messages[] 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E9F0B-A5CF-4D67-98C3-0C51BC3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70596-78D4-44E7-A3B3-87D3438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5DC10-4349-4CB7-9CE3-C1B38F50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rules + &lt;&lt;REF&gt;&gt; + Top5 context + &lt;&lt;END&gt;&gt;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2D84B-16E3-4AB0-B0C0-E77E169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523F6-357E-4012-9054-967444B2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8D0D4-815B-4862-AD1B-357E3356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Redis 中最近 20 条 user/assistant 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86338-1C89-4599-8AC1-3E819F7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5DAF-54C2-472D-8C12-5F634BB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9B06A-9D5D-4F81-B331-EB3A3FA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本轮 userMessage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5F1C1-80C4-4481-A54A-72C6C0BA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66850"/>
            <a:ext cx="60388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994F2-C90B-4837-854E-3B073449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SOURCE EXCERPT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75203-FFA6-45BB-9995-F566416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85950"/>
            <a:ext cx="56959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request.put("model", provider.model());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request.put("messages", buildMessages(...));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request.put("stream", true);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request.put("stream_options", { include_usage: true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POST {provider.apiBaseUrl}/chat/completions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bodyToFlux(String.class)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→ 解析 data: JSON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→ choices[0].delta.content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E8EE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→ onChunk.accept(content)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C488A-A4B3-4751-930F-5E8E80F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5391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CFC5-44E9-45A1-A5D8-F8DCB16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Provider 可切换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A6516-9FBC-4F7C-8516-D3217B8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ModelProviderConfigService 选择当前 LLM；协议保持 OpenAI 风格。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32EFD-AD94-460C-B585-04481A1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5791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F2C6F-ED25-461B-A3AE-45F9F1A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用量结算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CC341-55F6-4B61-8A82-8C4473A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305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先按 prompt + max completion 预留；流结束后按 usage 或估算值结算。</a:t>
            </a:r>
          </a:p>
        </p:txBody>
      </p:sp>
    </p:spTree>
    <p:extLst>
      <p:ext uri="{BB962C8B-B14F-4D97-AF65-F5344CB8AC3E}">
        <p14:creationId xmlns:p14="http://schemas.microsoft.com/office/powerpoint/2010/main" val="9177789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C70D9-28DE-42F3-9B58-BBF271A5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915E5-CCDF-4559-B524-49B5448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完成、停止与历史：当前实现的三套状态不能混为一谈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1537E-ACF8-48FB-B201-C3A554A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6DFCD-3FBE-4251-82FE-3CDBB24F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5C98B-3D50-4496-A06F-B7224AB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ChatHandler.java:130-185,351-455；input-box.vue:68-147；ConversationController.java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B923E-DE83-450A-8A54-5BC624D0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31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9E903-9B38-49E2-8393-280E97D7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24250" cy="37528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2770-1FE6-42BE-8C33-26947B27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871EF-7C04-4DAB-AA19-693D1932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流式输出状态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3A057-BFFD-4DE3-94F1-5AB893A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1813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responseBuilders[sessionId] 累积文本。每个模型 chunk 包装为 {chunk: ...} 发送。前端把最后一条 assistant 从 pending → loading，并持续追加 content。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BE9C1-1D92-4DDA-B74C-1B82753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3524250" cy="37528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CAA8D-A59B-48D1-A9B1-6BF14E8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87A87-79ED-476C-8589-9CA53DF1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43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34CD4-1809-4CAB-94BD-D73A03B2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1813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后台监控线程先等待 3s，再观察长度；若连续一段时间不再增长，发送 {type: completion, status: finished}，随后把问答与引用写入 Redis。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09E49-F715-43F2-BB06-CFE171D5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9243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F5BBF-21D9-4FFB-8F6F-FC92068C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CB2A0-E8DF-488B-9261-D2C82998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43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停止按钮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36965-3A0D-4015-9847-D9B5CD13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35814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前端先调用 /chat/websocket-token 获取内部 cmdToken，再发送 {type: stop}。后端 stopFlags 只阻止继续向 WS 发送；底层 LLM HTTP 流并未被显式取消。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B4A90-AF49-4488-B8B6-DC76C09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8E919-A4AD-42E9-8971-0E0A1D4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09DA7-4AAE-4516-A07C-6037ACCE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历史：user:&lt;id&gt;:current_conversation → UUID；conversation:&lt;UUID&gt; → 最多 20 条消息，TTL 7 天。</a:t>
            </a:r>
          </a:p>
        </p:txBody>
      </p:sp>
    </p:spTree>
    <p:extLst>
      <p:ext uri="{BB962C8B-B14F-4D97-AF65-F5344CB8AC3E}">
        <p14:creationId xmlns:p14="http://schemas.microsoft.com/office/powerpoint/2010/main" val="2292001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0047CC-CFC6-41EF-AC7A-684B5EAF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00459-8F66-468D-B87B-8D2455DE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可点击引用：回答中的“来源#N”如何回到原文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B7B1-D659-462F-83E9-A73FB93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798A7-CDAD-4023-B7E4-34D4070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9E152-CECF-44D9-A6BC-AE3471F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ChatHandler.java:306-348,491-582；chat-message.vue:129-287；DocumentController.java:679-740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AA86-D13B-4D17-9AA5-50DA294C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32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941C6-1EB3-4C8A-BC4E-93EE2C4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621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8C644-C573-422B-AF6E-472CA16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CFCAA-1991-4618-BABD-B2DCDA69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A0D1-3167-4159-8F1A-F7C47F7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构造上下文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7AAAE-A888-48F1-A293-A9206D8F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[1] (file.pdf | 第5页)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文本摘要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3C59F-59BE-4551-9B6C-64204BCE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84A95-9106-4A47-B489-87F6D099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0D6C8-2F13-4D84-8F9B-271C047D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0AD0B-10B4-4C02-92B6-0DD40E89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CC0D9-D206-4DE8-A083-C906DEF2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要求使用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来源#1: file.pdf | 第5页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130B8-E32E-4815-A1A4-56A3A96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621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9FA12-409B-4F98-81B1-5180157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39D00-A183-4079-8F9E-36E6C771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99F6F-D08C-4074-9579-34AA68C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前端正则识别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03A94-4768-4EBC-8E29-7F82C328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source-file-link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记录 referenceNumber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E3EBC-AF67-4826-A20D-95627A45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7601C-E965-495B-99DF-2692D54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94DEC-4D6E-4182-A960-2A238095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4F51-AE76-40F2-B2AE-242F77C0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引用详情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4077A-F1EF-4F72-8A72-309F232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GET documents/reference-detail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sessionId + #N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A79AB-57D7-4D46-B5A7-25725B0D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621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7CA5F-F3C9-4576-9544-299BDA8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742AC-46FB-4E71-BE2C-9B2AFC9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8E4AD-316A-4C2C-BBF6-40AC02A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权限再校验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80FF2-FC80-4CB4-82C0-22C5D443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getAccessibleFiles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禁止越权预览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0F20C-5C51-479D-836D-189C602A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390650"/>
            <a:ext cx="18192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8E54B-D324-4B96-A006-C0A219D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504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5592E-D119-4E24-8C26-241183E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859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预览定位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4C9C15-921F-46FD-A6BF-5205F7B6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66900"/>
            <a:ext cx="155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PDF 单页 / 文本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展示命中块和证据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88320-6023-45BE-B541-8075CCD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53911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1440AE-1F6E-4AF5-971C-B258EB1A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ReferenceInfo 保存的证据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77363F-CCC1-493D-9816-4E6B87BD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048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fileMd5、fileName、pageNumber、anchorText、retrievalMode/Label、retrievalQuery、matchedChunkText、evidenceSnippet、score、chunkId。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59748-BB57-47C2-B5AC-5C172DC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57721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BBB6A7-08E5-43A5-A092-B9616A7E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两种引用映射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9F7D92-06AF-49FE-A460-17B4142A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429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实时会话：sessionReferenceMappings[sessionId]，连接关闭会清理。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历史消息：referenceMappings 随 assistant 消息持久化到 Redis，之后仍可展示与预览。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502ABF-EE47-4726-B1AA-F51BB8F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4EBB41-FC80-4315-8509-3D8A4FA1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069C5F-B551-4E9A-A903-D645CD5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引用不是模型随口生成的文件名：编号先由检索结果建立映射，预览接口还会再次做文件权限校验。</a:t>
            </a:r>
          </a:p>
        </p:txBody>
      </p:sp>
    </p:spTree>
    <p:extLst>
      <p:ext uri="{BB962C8B-B14F-4D97-AF65-F5344CB8AC3E}">
        <p14:creationId xmlns:p14="http://schemas.microsoft.com/office/powerpoint/2010/main" val="13887697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4E988F-FA8B-42AB-AB42-9C6965B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聊天助手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A763A-BD7A-4B13-A830-B7470BD0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聊天模块源码索引与调试顺序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A360D-8861-4392-8101-F373FD75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2C6D2-FBFD-4A6C-BBF5-3754F42E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7271C-4B29-49A7-A956-3DDE511D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建议按 WebSocket 帧顺序逐层打断点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3A685-5278-4237-A720-9EA28069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33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02D3D-C325-478B-B4E3-3915384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CF1FC-C6EE-4613-AF87-DA1A37F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F962-1EFB-445C-B275-6EB2408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F2A4E-7D5A-4C8C-81F2-1AC4708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47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3070-0B62-4CCC-B17A-C1AC4100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E1D13-A314-4580-8A1C-E4C21E20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478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入口/方法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A1C1D-C09A-4DBD-8425-0DA2AA6B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CF909-AFC5-4C5C-8B32-EAF7DA4D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478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07D78-8FDC-43A0-8718-94A68653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9EEF5-E8CB-4728-ADD4-3C34BA4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前端连接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55B9D-619C-42A6-8376-604B138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BBCF9-D4D6-4F01-A303-C1C73DE5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76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frontend/src/store/modules/chat/index.ts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DF315-BF18-4BD3-AE46-8C5F743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8A7D4-BE26-4BF3-9F59-811D0D9C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useWebSocket :39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CC316-A50A-46BE-A75F-7FC9F67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2656B-898C-47D3-B3D4-2E7804D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socketUrl、握手、心跳、关闭码、sessionId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DE28A-DCE9-41BB-A609-CFBE84F3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E095F-6C56-49B3-BC45-ABD55BB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前端消息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E0F45-587F-48F4-AA22-5A4AEC5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83312-8AB6-4F08-9FEA-0F8C9E7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051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views/chat/modules/input-box.vue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03D57-A29E-47D6-8BC7-F4AF5CAC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EA7C9-4C58-40EC-A3AE-DD8B099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handleSend / watch(wsData)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1E1C8-09FE-4B41-A1BD-0641BFB0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91812-7D7C-47E2-8A01-375C3A2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pending/loading/finished/error、429 倒计时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47509-853C-4CF5-972C-C89F6EFD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1B7896-BA4D-4890-8FFA-E81055C7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WS 后端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79EED-B7C6-4EFE-A361-6D01778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10E47-1BE2-4679-AF44-BC8CF3E8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handler/ChatWebSocketHandler.java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D61BE-FB30-476D-91FD-3BC7686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38FD59-60BC-4007-AD94-39DAD72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afterConnectionEstablished :48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handleTextMessage :92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1799A9-17DF-4E58-92E7-D56C7B6A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E4FBC6-0BCE-4BA8-B4A9-7E23979E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JWT、ping/pong、stop、普通消息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C65DBC-2C54-422D-ACF4-666E968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E7D6A9-FFC7-4EFF-86FA-5DBA8DAF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 编排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EC781B-D1FC-4584-9096-2025E899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969DE7-E6DA-4165-B14A-0A1B21F8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service/ChatHandler.java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1FFAEC-86A5-49BB-8184-64E5105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D5101D-E66B-4760-B6A8-89E2CDD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processMessage :69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buildContext :306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94274B-F11E-4424-8746-19E1CC9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80E87D-6169-48F7-B131-9017B58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历史、Top5、context、引用映射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42570C-E782-42C2-8A06-063566C6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0F26FA-8AC6-4F07-AF55-9C82F86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2EB3DD-6DA4-4526-99DC-93806D7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9A158D-907D-4312-985C-5665C35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service/LlmProviderRouter.java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77AAD6-7C3D-4D60-8B6A-4F30561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C3384B-1407-4927-BBC5-94A89AB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streamResponse :41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processChunk :142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4CFF1A-3F29-4406-94D8-B55BCB7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9C34E8-224E-4310-B0DA-A271DA0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Provider、messages、SSE payload、usage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006742-D0CE-4C4B-98F7-6FEED18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F4392D-1989-44F0-BA71-F32E71D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引用预览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357698-B90C-4315-A030-486BB83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90A372-F27D-422C-8653-03C006F2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controller/DocumentController.java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chat-message.vue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D56E6D-55BE-4066-A62E-D9B5BE6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E158B3-E6FC-4FCD-A330-495CAA5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reference-detail :679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handleSourceFileClick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DE34B7-B509-4251-BEA5-87240B7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2AB871-423E-475D-9BD9-9D511AD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引用编号、文件权限、页码与 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FA3200-1061-4142-8456-051A907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366E19-367C-4A70-B7AA-D084D27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F4FAC3-DE91-455D-9E1D-812398EE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WS 调试最重要的证据是 Frames：connection → chunk... → completion / 429 / error / stop。</a:t>
            </a:r>
          </a:p>
        </p:txBody>
      </p:sp>
    </p:spTree>
    <p:extLst>
      <p:ext uri="{BB962C8B-B14F-4D97-AF65-F5344CB8AC3E}">
        <p14:creationId xmlns:p14="http://schemas.microsoft.com/office/powerpoint/2010/main" val="10592022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92E3D8-F9E2-48FD-8189-EC36B0C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端到端链路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BCEB5-03AB-4476-AAF0-621BFB24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跨模块复盘：上传一份 PDF，再问一个问题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44AD4-654F-4FE4-BF87-E3C261D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22B62-3A7C-4D78-A582-AAFE5F35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9BF5D-5B4F-4397-8933-0EFE30F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这是整套系统最重要的一条可演示链路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44ABB-D4BE-43B3-B6F2-AA0E7A5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34 / 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B96CD-5B82-41C5-A391-ACA3970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DEACA-74CA-414C-9E39-A3BC3CC4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4947C-5210-4BA1-9D6B-741AFD72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E83A9-56CA-4806-884A-A09E050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525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获得带 userId/orgTags 的 JWT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FAA4A-1B5A-436A-9F5F-234DA76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DDDDF-4992-4B0F-AD09-701D162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8E617-94F8-4287-B486-D959B51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30A5C-606A-4BE0-9292-E34F5B3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193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5MB 分片 → Redis/MinIO/MySQL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90D56-E696-4BEA-B271-FD48A440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DF6DE-1945-49B0-9B91-6632EDD1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A75BE-BCDE-42CA-8A07-FE611F2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异步知识化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5A9BE-F982-4930-BC0B-A5968E53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861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Kafka → PDFBox → chunk → Embedding → 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0BF03-EA2D-4362-9AB4-70D1A1C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BF839-51A1-46CF-87F5-D217FCFA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C8A1B-5DF1-479D-9809-A96D541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BC76E-63AA-4B89-8B37-DA987F7F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WebSocket 携 JWT，ChatHandler 取最近历史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699FC-1946-43FB-B219-C4A916E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4706F-BB81-4267-AD9D-69BAEABD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2EF85-65C5-45BD-94FD-BD4DDEE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43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6E92A-EDFA-4940-AA90-10F1ED6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525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query vector → KNN + AND + BM25 + 权限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34811-93FB-44FA-9A25-C3C6B45B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E7C9A-EF58-4106-B0CD-999C49FD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0FCEB-7392-49DC-AF2D-A50AF45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98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BEBEF-8556-4C9D-9E63-943081E0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Prompt 引用 Top5，LLM chunk 流式回传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9519A-91A4-477C-B701-309961E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552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280612-8847-4A5E-8C86-52BBCA6D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2D487-400D-4AB7-ABB2-06854B08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76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追溯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29F91-CEFC-4ED4-BC58-F67C37C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861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点击来源#N → 权限复核 → 第 N 页预览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4E3A4F-329D-41C2-AC93-296A26E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21889-C9B3-40B0-9F45-F42511A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7A0A92-DFA1-4DF9-85A3-A8C08A94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如果最终回答没有引用，沿反方向排查：Prompt 是否含证据 ← SearchResult 是否有 Top5 ← ES 是否已有该文件块。</a:t>
            </a:r>
          </a:p>
        </p:txBody>
      </p:sp>
    </p:spTree>
    <p:extLst>
      <p:ext uri="{BB962C8B-B14F-4D97-AF65-F5344CB8AC3E}">
        <p14:creationId xmlns:p14="http://schemas.microsoft.com/office/powerpoint/2010/main" val="19889828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BD46CB-791C-4D59-BED3-5FEF967E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学习计划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59453-C8DE-437A-BC53-ADDB436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建议的 7 天学习路线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2A258-2A2E-49EF-B708-239B6C7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952F7-258E-4AD3-B5E9-D7A82BB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DA73B-9A4D-4A3B-A292-77E87AF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35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CC502-507B-47CC-B364-4B4DBC3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5B477-69AC-46B8-B4F2-8E2A15E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ABEC4-1CB4-4CC2-A5A6-CC7F70AF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57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跑起来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77BC9-5C79-46AE-B685-3CD1FBA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811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准备 MySQL/Redis/MinIO/Kafka/ES；登录前后端；看 Network。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ED74F-F424-4191-842E-08A1092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3EF06-294B-411A-A20E-11FCF745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DAY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88C76-693B-4179-A822-1FC31A1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用户与安全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73B48-2A4F-48EF-8C63-F9377DC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注册/登录；解码 JWT；走一遍 JwtFilter 与 OrgTagFilter。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FCFA7-D301-4EC1-AD18-4E30FB2B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F54E5-17C3-4B43-991D-D1E478E3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246C-3B95-4119-9DB1-7BCDC48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909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上传同步链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81303-5B92-45C4-A36B-D0774914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47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上传小文件；核对 Redis 位图、MinIO chunk、file_upload。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D518E-3930-4EC1-8892-073E19E2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FB0D4-ACB4-42AF-98FA-BDB251C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DAY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07765-B53E-4EC9-957B-5889283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解析异步链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045D7-319D-4B77-BA1C-00C8ACFF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看 Kafka 消费；断点 ParseService；核对 document_vectors 与页码。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CE168-2271-4F74-ABF3-2D5B5EA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6DC32-8F0D-4676-9E2D-87E6552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DAY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FB5EA-B3E6-462A-B9B3-422F7191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57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Embedding 与检索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5C4F8-40EB-47A5-9B78-F835E88B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811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核对 ES mapping；手工请求 hybrid；比较 HYBRID/TEXT_ONLY。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E910-A82F-4519-9DED-28B2943A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E5E30A-5C9C-4A42-9577-546BE493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DAY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8C6BC-6DE0-4007-ABF1-3E0789CF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24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聊天与引用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8B673-353D-4D25-A044-9695EB6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479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看 WS Frames；断点 ChatHandler；点击来源预览。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9B9B1-9743-4CE6-987E-72033FC5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60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48379-2561-4557-88A4-2F5C958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DAY 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E0B18-1F14-44D9-B2C2-D5DAE285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909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权限与故障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610E22-BB04-4EF6-9991-6480DA40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147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5B6574"/>
                </a:solidFill>
                <a:latin typeface="Microsoft YaHei"/>
                <a:ea typeface="Microsoft YaHei"/>
                <a:cs typeface="Microsoft YaHei"/>
              </a:rPr>
              <a:t>两用户/两组织测试；模拟 Kafka/Embedding/ES 失败并写排错记录。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7C6DA4-9ED0-4073-9F67-9733B40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FFBE8-5886-4294-AAE9-719D8808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111F6F-A4A4-47A2-BE3D-8DC3F5D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每天都保留一份“输入 → 关键变量 → 存储变化 → 输出”的观察笔记；一周后你会拥有自己的运行时地图。</a:t>
            </a:r>
          </a:p>
        </p:txBody>
      </p:sp>
    </p:spTree>
    <p:extLst>
      <p:ext uri="{BB962C8B-B14F-4D97-AF65-F5344CB8AC3E}">
        <p14:creationId xmlns:p14="http://schemas.microsoft.com/office/powerpoint/2010/main" val="4722548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AB0BD3-B9A2-4E76-A1F7-DBD811F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调试清单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EFE1B-FA2D-4A92-B8B1-BC735B3E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最有价值的断点与可观测证据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DBCD6-02D5-4951-869C-DC5F1E3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4744-79D5-4752-B642-FF9D4E1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B1882-0322-43C3-891F-4A874A16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36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5A3A6-73DE-4135-8769-38A8866B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6F60-994F-444F-BDED-2B91B3EB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12CB8-7633-461F-B28B-FCE29260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D1A1F-AA99-41EE-AA70-33D075B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478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首选断点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933FD-7C7E-49E7-A301-829D3F5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6C8EB-18A8-4B52-89EB-9A91852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47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38404-0F97-4E4A-B8F9-DFA3D18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716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443FF-DAB0-4BA0-AEA6-A8E3CCF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478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43B8C-F5C2-42BB-AA6E-DE4E88E1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E444-E9F9-4043-8A4C-FDC306D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401 / 403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5EFC7-7740-49FA-9E30-6484A8E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9C962-F1CB-48DD-9364-9BE401D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764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JwtAuthenticationFilter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OrgTagAuthorizationFilter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F81AC-952C-4875-82D1-468372E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3CC22-7041-4B6D-B619-B4AA4FAF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Authorization、JWT claims、request attrs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B3CEE-6056-4D4A-98AA-6F9BD1C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BF6B4-7708-4DF9-BD4A-0674B4B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失效 / 角色不符 / 标签未扩展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AA0B9-D6C7-4863-A328-5CEE1B2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00438-D13E-4DFC-92D8-5B846C2D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分片卡住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DC6BA-0AB7-4FAD-BE0A-8FACA051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66F44-0E29-4B2E-A4A5-B5275593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051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UploadService.uploadChunk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D238D-45F0-4682-BCD7-B935D00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D6318-4D9E-4AA0-8062-28387F84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Redis GETBIT、MinIO chunk、chunk_info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DE130-AD9E-47FE-8D26-B86AA59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1B009-96B4-463F-B745-04ED3E69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位图与对象状态不一致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2F13B-2064-4E33-B0A4-0611280F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5EB03-C591-4635-8244-3B4B903F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合并冲突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EEFCE-F228-4B28-9802-7A52DB87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5E6160-38D3-47BA-ABFC-A541BF5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UploadController.mergeFile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A89A25-96E9-418E-BA39-81728B4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1D292E-C69E-4DF2-9434-5D3457E6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file_upload.status、CAS 行数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631D2E-1F80-45FB-B86C-77E527B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C0AA33-0D63-45C1-BC8C-0C1DFE3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重复 merge 或状态未回滚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1D2B9-3908-47AE-8AEA-EF65CC0F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B5D7F7-FBAF-404E-9416-56C3CB2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上传后搜不到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F8D392-DCFB-4E1E-BBBB-AA37B18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EC7998-54B4-4E2C-B3BA-6B40D29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624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FileProcessingConsumer.consume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0A48F5-A88C-4451-B86A-D6553ADF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137CF-1060-4ED5-BE9B-B5543C9B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Kafka offset/DLT、document_vectors、ES bulk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DA447E-3985-494B-A206-F5A6F099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16678D-F3E4-4C89-BD27-5DD0FE4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异步链某一步失败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006F25-35A7-431E-9CA7-E6D94916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C977E-9F8F-4B36-AF95-65DE0910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搜索不准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F2D9E4-20E4-41D2-A1AC-C9C55DA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6574E-91D4-4264-9C49-8BEEEFA2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91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HybridSearchService.searchWithPermission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E262CA-88B3-485E-B408-11B106C7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D941AD-864C-4AAB-8D39-D811040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vector、recallK、_score、mode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705E3C-85E2-4998-B3B0-466EAA0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C63E52-6FBF-45F8-A86A-E7C50BC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910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分块/查询词/重排参数不合适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A18AA-8579-4D6B-A953-566F8A2F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91DCF4-1240-45A0-B067-B87986B0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聊天无响应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F2EB16-449A-4146-9EA1-618F69C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A2109C-AB2C-4916-9B9E-6C3EB66B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19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ChatWebSocketHandler / LlmProviderRouter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66601-C341-4302-81D6-DAC662D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E464F9-B3BD-45F2-995D-C3F9162E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WS Frames、Provider SSE、completion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DFDA02-9171-4A0D-8A13-DC12AEF7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43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92A73B-AA87-42C7-992C-9ED2513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鉴权、限流、模型流或完成判定问题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7C8D25-0578-4F1C-BE26-4C48BC15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D0DB75-E683-4269-804F-BA02F29E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542F80-3AFA-426E-AD3F-B85FD71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不要只看一条应用日志：每个模块至少关联一种外部证据（Redis/MinIO/Kafka/ES/WS Frames）。</a:t>
            </a:r>
          </a:p>
        </p:txBody>
      </p:sp>
    </p:spTree>
    <p:extLst>
      <p:ext uri="{BB962C8B-B14F-4D97-AF65-F5344CB8AC3E}">
        <p14:creationId xmlns:p14="http://schemas.microsoft.com/office/powerpoint/2010/main" val="15671450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665DD-42DD-4DCF-B4F1-FBC088A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92425-2FF5-4FCE-9F58-BC4574A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你现在应该能用 5 句话描述 PaiSmart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D7803-652C-4A3D-8C16-A2981C8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FDC77-6954-4CE0-820D-A00BC0DC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4178C-23C2-4C5D-82B8-8013DEF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96A6"/>
                </a:solidFill>
                <a:latin typeface="Microsoft YaHei"/>
                <a:ea typeface="Microsoft YaHei"/>
                <a:cs typeface="Microsoft YaHei"/>
              </a:rPr>
              <a:t>37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5B096-D2A6-4675-AC30-421899E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A62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488DF-DDD9-4FAB-B44D-CEB411AF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620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用户登录后，JWT 同时携带身份、角色和组织权限快照。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D18D6-2F6F-4148-81EE-BD771683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0EC82-38FB-4F22-BDCC-069CA200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0D473-5791-41B4-A089-09878FE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621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文件通过分片可靠上传，合并后由 Kafka 异步变成文本块和向量。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382A-0974-48A1-AAEE-239DFCE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C1E1F-8341-457E-89D0-A896DE59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7FD44-AAF7-4A9B-8167-9A79F87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知识检索用 Query Embedding + KNN + AND 关键词 + BM25 重排。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CB38D-0288-4401-B06C-275CF6A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A075-BCFC-4439-A830-4D8E0D0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4B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82AD0-A783-4356-9ADF-84BEA72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623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权限条件在 MySQL 文件访问和 ES 文档块召回两处都必须生效。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36F77-093E-490C-AAA4-58DA028D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38C5F-FFC4-402D-94EA-61051AD5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B1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2ED01-4C6E-4F1D-81E1-41CC744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624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聊天通过 WebSocket 串联历史、Top5 证据、Prompt、流式模型和可点击引用。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EE229-440F-477D-8C7C-D0FBEDE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7B9A5-BAD9-4BB4-8121-0D11E03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604DD-39E0-49A2-885E-AD3D667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7EAEB-65A2-4D21-AFAA-6768990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689C8"/>
                </a:solidFill>
                <a:latin typeface="Microsoft YaHei"/>
                <a:ea typeface="Microsoft YaHei"/>
                <a:cs typeface="Microsoft YaHei"/>
              </a:rPr>
              <a:t>下一步建议：亲自完成“两个用户 + 一个私有 PDF + 一次引用点击”的最小闭环，并按第 36 页逐项留证。</a:t>
            </a:r>
          </a:p>
        </p:txBody>
      </p:sp>
    </p:spTree>
    <p:extLst>
      <p:ext uri="{BB962C8B-B14F-4D97-AF65-F5344CB8AC3E}">
        <p14:creationId xmlns:p14="http://schemas.microsoft.com/office/powerpoint/2010/main" val="915461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2026-07-21T12:19:51.3110000Z</dcterms:created>
  <dcterms:modified xsi:type="dcterms:W3CDTF">2026-07-21T12:19:51.3110000Z</dcterms:modified>
</coreProperties>
</file>