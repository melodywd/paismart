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6" r:id="rId3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3" Type="http://schemas.openxmlformats.org/officeDocument/2006/relationships/tableStyles" Target="tableStyles.xml"/><Relationship Id="rId42" Type="http://schemas.openxmlformats.org/officeDocument/2006/relationships/viewProps" Target="viewProps.xml"/><Relationship Id="rId41" Type="http://schemas.openxmlformats.org/officeDocument/2006/relationships/presProps" Target="presProps.xml"/><Relationship Id="rId40" Type="http://schemas.openxmlformats.org/officeDocument/2006/relationships/slide" Target="slides/slide37.xml"/><Relationship Id="rId4" Type="http://schemas.openxmlformats.org/officeDocument/2006/relationships/notesMaster" Target="notesMasters/notesMaster1.xml"/><Relationship Id="rId39" Type="http://schemas.openxmlformats.org/officeDocument/2006/relationships/slide" Target="slides/slide36.xml"/><Relationship Id="rId38" Type="http://schemas.openxmlformats.org/officeDocument/2006/relationships/slide" Target="slides/slide35.xml"/><Relationship Id="rId37" Type="http://schemas.openxmlformats.org/officeDocument/2006/relationships/slide" Target="slides/slide34.xml"/><Relationship Id="rId36" Type="http://schemas.openxmlformats.org/officeDocument/2006/relationships/slide" Target="slides/slide33.xml"/><Relationship Id="rId35" Type="http://schemas.openxmlformats.org/officeDocument/2006/relationships/slide" Target="slides/slide32.xml"/><Relationship Id="rId34" Type="http://schemas.openxmlformats.org/officeDocument/2006/relationships/slide" Target="slides/slide31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  <p:sp>
        <p:nvSpPr>
          <p:cNvPr id="2" name="Header Placeholder"/>
          <p:cNvSpPr/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2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3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4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5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6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/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.xml"/><Relationship Id="rId2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9" name="矩形 18"/>
          <p:cNvSpPr>
            <a:spLocks noGrp="1"/>
          </p:cNvSpPr>
          <p:nvPr/>
        </p:nvSpPr>
        <p:spPr>
          <a:xfrm>
            <a:off x="0" y="0"/>
            <a:ext cx="3429000" cy="6858000"/>
          </a:xfrm>
          <a:prstGeom prst="rect">
            <a:avLst/>
          </a:prstGeom>
          <a:solidFill>
            <a:srgbClr val="0B1F33"/>
          </a:solidFill>
          <a:ln w="0">
            <a:noFill/>
            <a:prstDash val="solid"/>
          </a:ln>
        </p:spPr>
      </p:sp>
      <p:sp>
        <p:nvSpPr>
          <p:cNvPr id="2" name="矩形 1"/>
          <p:cNvSpPr>
            <a:spLocks noGrp="1"/>
          </p:cNvSpPr>
          <p:nvPr/>
        </p:nvSpPr>
        <p:spPr>
          <a:xfrm>
            <a:off x="495300" y="523875"/>
            <a:ext cx="20955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90000"/>
              </a:lnSpc>
              <a:buNone/>
              <a:defRPr sz="4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PAI</a:t>
            </a:r>
            <a:endParaRPr sz="43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90000"/>
              </a:lnSpc>
              <a:buNone/>
              <a:defRPr sz="4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43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SMART</a:t>
            </a:r>
            <a:endParaRPr sz="43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95300" y="2324100"/>
            <a:ext cx="1905000" cy="5715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95300" y="2609850"/>
            <a:ext cx="238125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rPr>
              <a:t>企业级 RAG 知识管理系统</a:t>
            </a:r>
            <a:endParaRPr sz="1650" b="0">
              <a:solidFill>
                <a:srgbClr val="C7D4E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" name="矩形 4"/>
          <p:cNvSpPr>
            <a:spLocks noGrp="1"/>
          </p:cNvSpPr>
          <p:nvPr/>
        </p:nvSpPr>
        <p:spPr>
          <a:xfrm>
            <a:off x="4095750" y="800100"/>
            <a:ext cx="7239000" cy="762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40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40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从零到可调试</a:t>
            </a:r>
            <a:endParaRPr sz="40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4114800" y="1657350"/>
            <a:ext cx="72390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用户管理 · 文件上传与解析 · 知识检索 · 聊天助手</a:t>
            </a:r>
            <a:endParaRPr sz="18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114800" y="2343150"/>
            <a:ext cx="6762750" cy="914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一份按“前端 → API → 安全过滤 → 服务 → 中间件/存储 → 返回结果”追踪源码的学习型 PPT。</a:t>
            </a:r>
            <a:endParaRPr sz="157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4114800" y="37528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12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4686300" y="36766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看懂真实端到端链路</a:t>
            </a:r>
            <a:endParaRPr sz="157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4114800" y="4171950"/>
            <a:ext cx="53340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4114800" y="44386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12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86300" y="43624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定位关键类、方法与配置</a:t>
            </a:r>
            <a:endParaRPr sz="157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114800" y="4857750"/>
            <a:ext cx="53340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4114800" y="5124450"/>
            <a:ext cx="476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12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686300" y="5048250"/>
            <a:ext cx="49530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掌握调试断点与排错入口</a:t>
            </a:r>
            <a:endParaRPr sz="157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4114800" y="5543550"/>
            <a:ext cx="53340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4114800" y="6191250"/>
            <a:ext cx="5715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7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7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基于当前工作区源码核对 · 2026-07-21</a:t>
            </a:r>
            <a:endParaRPr sz="97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10668000" y="619125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01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矩形 27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学习导航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这份 PPT 解决什么问题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02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400050" y="1485900"/>
            <a:ext cx="2609850" cy="2133600"/>
          </a:xfrm>
          <a:prstGeom prst="roundRect">
            <a:avLst>
              <a:gd name="adj" fmla="val 535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52450" y="1619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12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990600" y="160020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71500" y="2000250"/>
            <a:ext cx="22669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注册 / 登录 / JWT / 角色 / 组织标签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3238500" y="1485900"/>
            <a:ext cx="2609850" cy="21336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3390900" y="1619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3829050" y="160020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文件上传</a:t>
            </a:r>
            <a:r>
              <a:rPr lang="zh-CN"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和解析</a:t>
            </a:r>
            <a:endParaRPr lang="zh-CN"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3409950" y="2000250"/>
            <a:ext cx="22669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5MB 分片 / Redis 位图 / MinIO 合并 / Kafka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076950" y="1485900"/>
            <a:ext cx="2609850" cy="2133600"/>
          </a:xfrm>
          <a:prstGeom prst="roundRect">
            <a:avLst>
              <a:gd name="adj" fmla="val 535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229350" y="1619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12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667500" y="160020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知识检索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248400" y="2000250"/>
            <a:ext cx="22669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Query Embedding / KNN / BM25 / 权限过滤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8915400" y="1485900"/>
            <a:ext cx="2609850" cy="213360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9067800" y="1619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12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505950" y="1600200"/>
            <a:ext cx="1866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9086850" y="2000250"/>
            <a:ext cx="2266950" cy="1504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WebSocket / RAG / 流式模型 / 引用证据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400050" y="3943350"/>
            <a:ext cx="5448300" cy="1676400"/>
          </a:xfrm>
          <a:prstGeom prst="roundRect">
            <a:avLst>
              <a:gd name="adj" fmla="val 6818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71500" y="4076700"/>
            <a:ext cx="5105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统一读法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571500" y="4457700"/>
            <a:ext cx="51054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每个模块都按同一条线看：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页面操作 → 前端请求/状态 → Controller → Filter → Service → Repository / 中间件 → 响应。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6076950" y="3943350"/>
            <a:ext cx="5715000" cy="1676400"/>
          </a:xfrm>
          <a:prstGeom prst="roundRect">
            <a:avLst>
              <a:gd name="adj" fmla="val 6818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6248400" y="4076700"/>
            <a:ext cx="53721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学完后的能力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248400" y="4457700"/>
            <a:ext cx="5372100" cy="1047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你应该能回答：数据存在哪里？权限在哪里生效？异步边界在哪里？失败会怎样重试？一个请求应该在哪些方法打断点？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矩形 20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总体认知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你提供的模块脑图：作为导航，不作为最终事实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输入：用户提供的脑图；实现细节以当前仓库源码为准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03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00050" y="1352550"/>
            <a:ext cx="5429250" cy="4610100"/>
          </a:xfrm>
          <a:prstGeom prst="roundRect">
            <a:avLst>
              <a:gd name="adj" fmla="val 247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6153150" y="1428750"/>
            <a:ext cx="5638800" cy="1104900"/>
          </a:xfrm>
          <a:prstGeom prst="roundRect">
            <a:avLst>
              <a:gd name="adj" fmla="val 10345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6324600" y="1562100"/>
            <a:ext cx="5295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修正 1｜文档解析</a:t>
            </a:r>
            <a:endParaRPr sz="14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324600" y="1943100"/>
            <a:ext cx="52959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实际代码：PDF 走 PDFBox；其他格式主要由 Apache Tika AutoDetectParser 识别，而不是统一使用 POI。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6153150" y="2686050"/>
            <a:ext cx="5638800" cy="1104900"/>
          </a:xfrm>
          <a:prstGeom prst="roundRect">
            <a:avLst>
              <a:gd name="adj" fmla="val 10345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6324600" y="2819400"/>
            <a:ext cx="5295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修正 2｜向量化</a:t>
            </a:r>
            <a:endParaRPr sz="14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6324600" y="3200400"/>
            <a:ext cx="52959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实际模型与维度由运行时 Provider 配置决定；默认 text-embedding-v4、2048 维，索引 knowledge_base。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6153150" y="3943350"/>
            <a:ext cx="56388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6324600" y="4076700"/>
            <a:ext cx="52959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4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修正 3｜聊天完成判定</a:t>
            </a:r>
            <a:endParaRPr sz="14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6324600" y="4457700"/>
            <a:ext cx="52959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模型响应是流式的，但当前 ChatHandler 用“响应长度在一段时间内不再变化”来触发 completion 与历史落库。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400050" y="56007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400050" y="5600700"/>
            <a:ext cx="57150" cy="400050"/>
          </a:xfrm>
          <a:prstGeom prst="rect">
            <a:avLst/>
          </a:prstGeom>
          <a:solidFill>
            <a:srgbClr val="1689C8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71500" y="56864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正确用法：先用脑图记住模块，再用本 PPT 的“入口文件 + 方法 + 数据去向”还原真实执行链。</a:t>
            </a:r>
            <a:endParaRPr sz="116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pic>
        <p:nvPicPr>
          <p:cNvPr id="40" name="图片 3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25439" y="1466850"/>
            <a:ext cx="2778472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70" name="矩形 6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总体架构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系统全景：两条主数据链在 Elasticsearch 汇合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配置：pom.xml；src/main/resources/application.yml；src/main/resources/elasticsearch-mapping.json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04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19100" y="13716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写入链｜把文件变成可检索知识</a:t>
            </a:r>
            <a:endParaRPr sz="15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203450" y="2266950"/>
            <a:ext cx="1143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9" name="圆角矩形 8"/>
          <p:cNvSpPr>
            <a:spLocks noGrp="1"/>
          </p:cNvSpPr>
          <p:nvPr/>
        </p:nvSpPr>
        <p:spPr>
          <a:xfrm>
            <a:off x="400050" y="17526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33400" y="18669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57250" y="18478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Vue 上传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33400" y="22288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计算 MD5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切成 5MB 分片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121150" y="2266950"/>
            <a:ext cx="1143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4" name="圆角矩形 13"/>
          <p:cNvSpPr>
            <a:spLocks noGrp="1"/>
          </p:cNvSpPr>
          <p:nvPr/>
        </p:nvSpPr>
        <p:spPr>
          <a:xfrm>
            <a:off x="2317750" y="17526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451100" y="18669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774950" y="18478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Spring API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451100" y="22288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校验类型、大小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组织标签与可见性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038850" y="2266950"/>
            <a:ext cx="1143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9" name="圆角矩形 18"/>
          <p:cNvSpPr>
            <a:spLocks noGrp="1"/>
          </p:cNvSpPr>
          <p:nvPr/>
        </p:nvSpPr>
        <p:spPr>
          <a:xfrm>
            <a:off x="4235450" y="17526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368800" y="18669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692650" y="18478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MinIO + Redis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368800" y="22288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分片对象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上传位图 / 断点续传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7956550" y="2266950"/>
            <a:ext cx="1143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4" name="圆角矩形 23"/>
          <p:cNvSpPr>
            <a:spLocks noGrp="1"/>
          </p:cNvSpPr>
          <p:nvPr/>
        </p:nvSpPr>
        <p:spPr>
          <a:xfrm>
            <a:off x="6153150" y="17526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6286500" y="18669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610350" y="18478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Kafka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6286500" y="22288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合并后投递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异步解析任务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874250" y="2266950"/>
            <a:ext cx="1143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9" name="圆角矩形 28"/>
          <p:cNvSpPr>
            <a:spLocks noGrp="1"/>
          </p:cNvSpPr>
          <p:nvPr/>
        </p:nvSpPr>
        <p:spPr>
          <a:xfrm>
            <a:off x="8070850" y="17526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204200" y="18669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528050" y="18478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Tika / PDFBox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8204200" y="22288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抽取文本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页码 / 语义分块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圆角矩形 32"/>
          <p:cNvSpPr>
            <a:spLocks noGrp="1"/>
          </p:cNvSpPr>
          <p:nvPr/>
        </p:nvSpPr>
        <p:spPr>
          <a:xfrm>
            <a:off x="9988550" y="17526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10121900" y="18669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0445750" y="18478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256"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 + ES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10121900" y="22288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2048 维向量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权限字段随块入索引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19100" y="323850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读取链｜把问题变成有来源的回答</a:t>
            </a:r>
            <a:endParaRPr sz="150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2203450" y="4133850"/>
            <a:ext cx="114300" cy="3810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39" name="圆角矩形 38"/>
          <p:cNvSpPr>
            <a:spLocks noGrp="1"/>
          </p:cNvSpPr>
          <p:nvPr/>
        </p:nvSpPr>
        <p:spPr>
          <a:xfrm>
            <a:off x="400050" y="36195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533400" y="37338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57250" y="37147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6655"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WebSocket 问题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533400" y="40957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JWT 在路径中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心跳 / 重连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4121150" y="4133850"/>
            <a:ext cx="114300" cy="3810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44" name="圆角矩形 43"/>
          <p:cNvSpPr>
            <a:spLocks noGrp="1"/>
          </p:cNvSpPr>
          <p:nvPr/>
        </p:nvSpPr>
        <p:spPr>
          <a:xfrm>
            <a:off x="2317750" y="36195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2451100" y="37338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2774950" y="37147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4302"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Query Embedding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2451100" y="40957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查询限流与额度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生成问题向量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6038850" y="4133850"/>
            <a:ext cx="114300" cy="3810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49" name="圆角矩形 48"/>
          <p:cNvSpPr>
            <a:spLocks noGrp="1"/>
          </p:cNvSpPr>
          <p:nvPr/>
        </p:nvSpPr>
        <p:spPr>
          <a:xfrm>
            <a:off x="4235450" y="36195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4368800" y="37338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4692650" y="37147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混合检索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4368800" y="40957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KNN 召回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AND 文本 + BM25 重排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7956550" y="4133850"/>
            <a:ext cx="114300" cy="3810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54" name="圆角矩形 53"/>
          <p:cNvSpPr>
            <a:spLocks noGrp="1"/>
          </p:cNvSpPr>
          <p:nvPr/>
        </p:nvSpPr>
        <p:spPr>
          <a:xfrm>
            <a:off x="6153150" y="36195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6286500" y="37338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6610350" y="37147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权限过滤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6286500" y="40957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本人 / 公开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有效组织标签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9874250" y="4133850"/>
            <a:ext cx="114300" cy="3810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59" name="圆角矩形 58"/>
          <p:cNvSpPr>
            <a:spLocks noGrp="1"/>
          </p:cNvSpPr>
          <p:nvPr/>
        </p:nvSpPr>
        <p:spPr>
          <a:xfrm>
            <a:off x="8070850" y="36195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8204200" y="37338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8528050" y="37147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Prompt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矩形 61"/>
          <p:cNvSpPr>
            <a:spLocks noGrp="1"/>
          </p:cNvSpPr>
          <p:nvPr/>
        </p:nvSpPr>
        <p:spPr>
          <a:xfrm>
            <a:off x="8204200" y="40957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Top 5 证据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历史 + 引用编号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圆角矩形 62"/>
          <p:cNvSpPr>
            <a:spLocks noGrp="1"/>
          </p:cNvSpPr>
          <p:nvPr/>
        </p:nvSpPr>
        <p:spPr>
          <a:xfrm>
            <a:off x="9988550" y="3619500"/>
            <a:ext cx="1803400" cy="1066800"/>
          </a:xfrm>
          <a:prstGeom prst="roundRect">
            <a:avLst>
              <a:gd name="adj" fmla="val 10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10121900" y="37338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5" name="矩形 64"/>
          <p:cNvSpPr>
            <a:spLocks noGrp="1"/>
          </p:cNvSpPr>
          <p:nvPr/>
        </p:nvSpPr>
        <p:spPr>
          <a:xfrm>
            <a:off x="10445750" y="3714750"/>
            <a:ext cx="121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LLM 流式回答</a:t>
            </a:r>
            <a:endParaRPr sz="124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6" name="矩形 65"/>
          <p:cNvSpPr>
            <a:spLocks noGrp="1"/>
          </p:cNvSpPr>
          <p:nvPr/>
        </p:nvSpPr>
        <p:spPr>
          <a:xfrm>
            <a:off x="10121900" y="4095750"/>
            <a:ext cx="15367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chunk 回传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Redis 历史与引用映射</a:t>
            </a:r>
            <a:endParaRPr sz="103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7" name="圆角矩形 66"/>
          <p:cNvSpPr>
            <a:spLocks noGrp="1"/>
          </p:cNvSpPr>
          <p:nvPr/>
        </p:nvSpPr>
        <p:spPr>
          <a:xfrm>
            <a:off x="400050" y="51054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68" name="矩形 67"/>
          <p:cNvSpPr>
            <a:spLocks noGrp="1"/>
          </p:cNvSpPr>
          <p:nvPr/>
        </p:nvSpPr>
        <p:spPr>
          <a:xfrm>
            <a:off x="400050" y="5105400"/>
            <a:ext cx="57150" cy="40005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69" name="矩形 68"/>
          <p:cNvSpPr>
            <a:spLocks noGrp="1"/>
          </p:cNvSpPr>
          <p:nvPr/>
        </p:nvSpPr>
        <p:spPr>
          <a:xfrm>
            <a:off x="571500" y="51911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关键汇合点：Elasticsearch 中的每个文档块同时携带 vector、textContent、userId、orgTag、公开标记。</a:t>
            </a:r>
            <a:endParaRPr sz="116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矩形 21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目录结构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先建立源码地图：同一功能跨越前后端与基础设施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项目根目录：C:/Users/lqhw/IdeaProjects/PaiSmart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05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00050" y="1428750"/>
            <a:ext cx="5524500" cy="4171950"/>
          </a:xfrm>
          <a:prstGeom prst="roundRect">
            <a:avLst>
              <a:gd name="adj" fmla="val 2740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71500" y="1562100"/>
            <a:ext cx="5181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PROJECT TREE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71500" y="1847850"/>
            <a:ext cx="5181600" cy="3638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PaiSmart/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├─ frontend/src/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views/                 页面入口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store/modules/         Auth / KnowledgeBase / Chat 状态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└─ service/               HTTP 请求封装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├─ src/main/java/.../smartpai/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controller/            REST 边界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config/ + handler/     JWT / 组织权限 / WebSocket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service/ + client/     业务、解析、检索、模型调用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consumer/              Kafka 异步处理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├─ repository/            MySQL 数据访问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│  └─ model/ + entity/       业务实体与 ES 文档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└─ src/main/resources/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├─ application.yml        运行参数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└─ elasticsearch-mapping.json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6210300" y="1428750"/>
            <a:ext cx="558165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381750" y="1562100"/>
            <a:ext cx="523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MySQL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6381750" y="1943100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用户、组织标签、上传元数据、分块文本、任务/用量。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6210300" y="2457450"/>
            <a:ext cx="558165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6381750" y="2590800"/>
            <a:ext cx="523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Redis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6381750" y="2971800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JWT 有效性、上传位图、当前会话、最近 20 条消息、限流计数。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6210300" y="3486150"/>
            <a:ext cx="558165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6381750" y="3619500"/>
            <a:ext cx="523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MinIO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381750" y="4000500"/>
            <a:ext cx="523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chunks/&lt;md5&gt;/&lt;index&gt; 临时分片；merged/&lt;md5&gt; 完整文件。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6210300" y="4514850"/>
            <a:ext cx="5581650" cy="1085850"/>
          </a:xfrm>
          <a:prstGeom prst="roundRect">
            <a:avLst>
              <a:gd name="adj" fmla="val 1052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6381750" y="4648200"/>
            <a:ext cx="5238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Kafka + Elasticsearch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6381750" y="5029200"/>
            <a:ext cx="52387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Kafka 把上传响应与耗时解析解耦；ES 存文本、向量、权限字段并完成混合检索。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8" name="矩形 27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阅读方法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从零学习时，不要从类名开始：从一个可操作场景开始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06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552450" y="154305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257300" y="146685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注册一个用户</a:t>
            </a:r>
            <a:endParaRPr sz="16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57300" y="18669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观察 users / org tags / Redis JWT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52450" y="2266950"/>
            <a:ext cx="47625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52450" y="251460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1257300" y="243840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上传一个 2 页 PDF</a:t>
            </a:r>
            <a:endParaRPr sz="16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257300" y="283845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观察分片、合并、Kafka、页级文本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552450" y="3238500"/>
            <a:ext cx="47625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52450" y="348615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5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1257300" y="340995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搜索 PDF 中一句话</a:t>
            </a:r>
            <a:endParaRPr sz="16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257300" y="381000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观察 query vector、ES 查询、权限 should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552450" y="4210050"/>
            <a:ext cx="47625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52450" y="4457700"/>
            <a:ext cx="5905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5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257300" y="4381500"/>
            <a:ext cx="29527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在聊天里追问并点引用</a:t>
            </a:r>
            <a:endParaRPr sz="16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257300" y="4781550"/>
            <a:ext cx="3905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观察 Top5、Prompt、流式消息、reference-detail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52450" y="5181600"/>
            <a:ext cx="47625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2" name="圆角矩形 21"/>
          <p:cNvSpPr>
            <a:spLocks noGrp="1"/>
          </p:cNvSpPr>
          <p:nvPr/>
        </p:nvSpPr>
        <p:spPr>
          <a:xfrm>
            <a:off x="6210300" y="1504950"/>
            <a:ext cx="5048250" cy="3733800"/>
          </a:xfrm>
          <a:prstGeom prst="roundRect">
            <a:avLst>
              <a:gd name="adj" fmla="val 3061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381750" y="1638300"/>
            <a:ext cx="4705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REQUEST-TRACE LOOP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6381750" y="1924050"/>
            <a:ext cx="4705350" cy="3200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浏览器 Network / WS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    ↓ 复制 URL、参数、状态码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Controller 入口打断点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    ↓ 看 request attribute 的 userId/orgTags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Service 关键分支打断点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    ↓ 看 Redis key / MinIO object / Kafka message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Repository 或 ES 查询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    ↓ 验证最终落库与返回字段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5" name="圆角矩形 24"/>
          <p:cNvSpPr>
            <a:spLocks noGrp="1"/>
          </p:cNvSpPr>
          <p:nvPr/>
        </p:nvSpPr>
        <p:spPr>
          <a:xfrm>
            <a:off x="400050" y="56197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400050" y="5619750"/>
            <a:ext cx="57150" cy="400050"/>
          </a:xfrm>
          <a:prstGeom prst="rect">
            <a:avLst/>
          </a:prstGeom>
          <a:solidFill>
            <a:srgbClr val="1689C8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571500" y="5705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本 PPT 每条链都给出：入口 → 关键分支 → 数据去向 → 源码位置 → 建议断点。</a:t>
            </a:r>
            <a:endParaRPr sz="116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33400" y="400050"/>
            <a:ext cx="1714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660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660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660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33400" y="1752600"/>
            <a:ext cx="723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39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2647950"/>
            <a:ext cx="685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rPr>
              <a:t>身份先被验证，再被编码进 JWT；后续模块都依赖这份身份与组织权限上下文。</a:t>
            </a:r>
            <a:endParaRPr sz="1650" b="0">
              <a:solidFill>
                <a:srgbClr val="C7D4E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810500" y="609600"/>
            <a:ext cx="57150" cy="5334000"/>
          </a:xfrm>
          <a:prstGeom prst="rect">
            <a:avLst/>
          </a:prstGeom>
          <a:solidFill>
            <a:srgbClr val="7A62D3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286750" y="10668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15400" y="9715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注册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915400" y="13239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策略 / 邀请码 / BCrypt / 私有组织标签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286750" y="22669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915400" y="21717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登录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915400" y="25241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access + refresh token，Redis 保存有效状态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286750" y="34671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5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915400" y="33718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鉴权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915400" y="37242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Spring Security + JWT Filter + OrgTag Filter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86750" y="46672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5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15400" y="45720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授权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15400" y="49244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角色、本人、公开、组织层级共同决定访问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668000" y="63341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rPr>
              <a:t>07 / 37</a:t>
            </a:r>
            <a:endParaRPr sz="900" b="0">
              <a:solidFill>
                <a:srgbClr val="8DA1B7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注册链路：一个用户同时产生账号与默认权限边界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frontend/src/views/_builtin/login/modules/register.vue；UserController.java:55；UserService.java:95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08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56510" y="2028825"/>
            <a:ext cx="1524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85900"/>
            <a:ext cx="215646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6002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81150"/>
            <a:ext cx="156591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注册页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62150"/>
            <a:ext cx="188976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username / password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inviteCode（按策略）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65370" y="2028825"/>
            <a:ext cx="1524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8910" y="1485900"/>
            <a:ext cx="215646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42260" y="16002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6110" y="1581150"/>
            <a:ext cx="156591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9637"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POST /users/register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42260" y="1962150"/>
            <a:ext cx="188976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UserController.register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基本请求校验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74230" y="2028825"/>
            <a:ext cx="1524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7770" y="1485900"/>
            <a:ext cx="215646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51120" y="16002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74970" y="1581150"/>
            <a:ext cx="156591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注册策略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51120" y="1962150"/>
            <a:ext cx="188976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开放 / 邀请码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密码复杂度与唯一性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3090" y="2028825"/>
            <a:ext cx="1524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26630" y="1485900"/>
            <a:ext cx="215646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59980" y="16002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83830" y="1581150"/>
            <a:ext cx="156591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保存账号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59980" y="1962150"/>
            <a:ext cx="188976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BCrypt 哈希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role = USER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35490" y="1485900"/>
            <a:ext cx="215646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68840" y="160020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92690" y="1581150"/>
            <a:ext cx="156591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建立权限标签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68840" y="1962150"/>
            <a:ext cx="188976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DEFAULT +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PRIVATE_&lt;username&gt;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48000"/>
            <a:ext cx="6038850" cy="2476500"/>
          </a:xfrm>
          <a:prstGeom prst="roundRect">
            <a:avLst>
              <a:gd name="adj" fmla="val 4615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181350"/>
            <a:ext cx="5695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467100"/>
            <a:ext cx="5695950" cy="1943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// UserService.registerUser(...)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validateRegistrationPolicy(username, inviteCode);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validatePassword(password);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user.setPassword(PasswordUtil.encode(password));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user.setRole("USER");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userRepository.save(user);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// 为用户创建 PRIVATE_&lt;username&gt; 标签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assignOrgTagsToUser(user.getId(), ["DEFAULT", privateTag]);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setPrimaryOrgTag(user.getId(), privateTag);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724650" y="3048000"/>
            <a:ext cx="5067300" cy="1143000"/>
          </a:xfrm>
          <a:prstGeom prst="roundRect">
            <a:avLst>
              <a:gd name="adj" fmla="val 10000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896100" y="3181350"/>
            <a:ext cx="4724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写入的数据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896100" y="3562350"/>
            <a:ext cx="47244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users：账号、哈希密码、角色、orgTags、primaryOrg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organization_tags：PRIVATE_&lt;username&gt; 及创建者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6724650" y="4343400"/>
            <a:ext cx="50673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896100" y="4476750"/>
            <a:ext cx="4724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必须理解的点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896100" y="4857750"/>
            <a:ext cx="47244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密码从不以明文保存；“私有组织标签”让每个用户天然拥有一个仅自己可见的上传范围。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登录链路：JWT 不只是身份证，也携带权限快照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frontend/src/store/modules/auth/index.ts:103；UserController.java:89；JwtUtils.java:51,296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09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Pinia login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POST /users/login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拿 token 对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校验密码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UserService.authenticate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BCrypt.matches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Access Token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1 小时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username / role / userId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Refresh Token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7 天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独立 refreshTokenId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本地 + Redis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前端 localStorage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后端 jwt:* 有效性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2952750"/>
            <a:ext cx="5810250" cy="2533650"/>
          </a:xfrm>
          <a:prstGeom prst="roundRect">
            <a:avLst>
              <a:gd name="adj" fmla="val 4511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086100"/>
            <a:ext cx="5467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371850"/>
            <a:ext cx="54673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String username = userService.authenticateUser(...);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String token = jwtUtils.generateToken(username);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String refreshToken = jwtUtils.generateRefreshToken(username);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// access token claims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role, userId, orgTags, primaryOrg, tokenId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// 前端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localStg.set('token', loginToken.token);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localStg.set('refreshToken', loginToken.refreshToken);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496050" y="2952750"/>
            <a:ext cx="5295900" cy="1162050"/>
          </a:xfrm>
          <a:prstGeom prst="roundRect">
            <a:avLst>
              <a:gd name="adj" fmla="val 9836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667500" y="308610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为什么还要 Redis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667500" y="3467100"/>
            <a:ext cx="4953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签名合法只能证明 Token 未被篡改；Redis 的 tokenId 状态让注销、轮转、主动失效成为可能。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6496050" y="4267200"/>
            <a:ext cx="5295900" cy="1219200"/>
          </a:xfrm>
          <a:prstGeom prst="roundRect">
            <a:avLst>
              <a:gd name="adj" fmla="val 9375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667500" y="4400550"/>
            <a:ext cx="4953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后续请求携带什么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667500" y="4781550"/>
            <a:ext cx="4953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156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HTTP：Authorization: Bearer &lt;token&gt;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WebSocket：/chat/{urlEncodedToken}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Filter 再把 userId / role / orgTags 写入安全上下文或 request attribute。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6" name="矩形 4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安全过滤链：先认证，再补充组织标签授权上下文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SecurityConfig.java:42-77；JwtAuthenticationFilter.java:39-78；OrgTagAuthorizationFilter.java:53-122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10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20288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668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81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621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请求进入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431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Authorization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或允许匿名路径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20288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668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81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621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0098"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JwtAuthenticationFilter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431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Redis + 签名校验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构造 Authentication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20288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668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81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621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SecurityConfig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431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角色规则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anyRequest authenticated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20288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668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81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621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OrgTag Filter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431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解析 userId/role/tags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资源级访问判断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668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811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621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Controller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431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读取 request attribute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进入业务逻辑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28950"/>
            <a:ext cx="3524250" cy="2000250"/>
          </a:xfrm>
          <a:prstGeom prst="roundRect">
            <a:avLst>
              <a:gd name="adj" fmla="val 5714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52450" y="31623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A</a:t>
            </a:r>
            <a:endParaRPr sz="112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90600" y="31432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Token 自动刷新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71500" y="3543300"/>
            <a:ext cx="31813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有效 Token 距过期 ≤ 5 分钟时主动刷新；过期后 10 分钟宽限期内也可尝试刷新。新 Token 通过响应头返回。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4133850" y="3028950"/>
            <a:ext cx="3524250" cy="200025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286250" y="31623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B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724400" y="31432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公开端点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305300" y="3543300"/>
            <a:ext cx="318135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注册、登录、refreshToken、WebSocket 路径等按 SecurityConfig 放行；真正的 WS JWT 验证在 ChatWebSocketHandler 建连时执行。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7867650" y="3028950"/>
            <a:ext cx="3924300" cy="2000250"/>
          </a:xfrm>
          <a:prstGeom prst="roundRect">
            <a:avLst>
              <a:gd name="adj" fmla="val 5714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020050" y="31623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C</a:t>
            </a:r>
            <a:endParaRPr sz="112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458200" y="31432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阅读提醒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039100" y="3543300"/>
            <a:ext cx="3581400" cy="1371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URL 匹配规则决定哪个角色约束生效。排查 401/403 时，先看 SecurityConfig，再看两个 Filter 的路径分支和 request attribute。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400050" y="54292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00050" y="5429250"/>
            <a:ext cx="57150" cy="400050"/>
          </a:xfrm>
          <a:prstGeom prst="rect">
            <a:avLst/>
          </a:prstGeom>
          <a:solidFill>
            <a:srgbClr val="7A62D3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71500" y="55149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认证 Authentication 回答“你是谁”；组织标签过滤回答“你能看哪一份数据”。</a:t>
            </a:r>
            <a:endParaRPr sz="116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9" name="矩形 28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权限模型：角色是粗粒度，组织标签是数据级边界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OrgTagAuthorizationFilter.java；FileUploadRepository.findAccessibleFilesWithTags；HybridSearchService.searchWithPermission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11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428750"/>
            <a:ext cx="45720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一次资源访问满足以下任一条件即可</a:t>
            </a:r>
            <a:endParaRPr sz="16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943100"/>
            <a:ext cx="5219700" cy="609600"/>
          </a:xfrm>
          <a:prstGeom prst="roundRect">
            <a:avLst>
              <a:gd name="adj" fmla="val 1875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71500" y="208597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OWNER</a:t>
            </a:r>
            <a:endParaRPr sz="120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581150" y="2047875"/>
            <a:ext cx="3790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file.userId == 当前 userId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00050" y="2724150"/>
            <a:ext cx="52197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71500" y="286702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PUBLIC</a:t>
            </a:r>
            <a:endParaRPr sz="12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581150" y="2828925"/>
            <a:ext cx="3790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isPublic == true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00050" y="3505200"/>
            <a:ext cx="5219700" cy="609600"/>
          </a:xfrm>
          <a:prstGeom prst="roundRect">
            <a:avLst>
              <a:gd name="adj" fmla="val 1875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71500" y="364807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ORG</a:t>
            </a:r>
            <a:endParaRPr sz="120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581150" y="3609975"/>
            <a:ext cx="3790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file.orgTag ∈ 用户有效组织标签（含层级）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400050" y="4286250"/>
            <a:ext cx="5219700" cy="609600"/>
          </a:xfrm>
          <a:prstGeom prst="roundRect">
            <a:avLst>
              <a:gd name="adj" fmla="val 18750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71500" y="4429125"/>
            <a:ext cx="95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ADMIN</a:t>
            </a:r>
            <a:endParaRPr sz="120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581150" y="4391025"/>
            <a:ext cx="37909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管理员按受保护 API 的角色规则管理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5981700" y="1428750"/>
            <a:ext cx="5810250" cy="1524000"/>
          </a:xfrm>
          <a:prstGeom prst="roundRect">
            <a:avLst>
              <a:gd name="adj" fmla="val 7500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6153150" y="1562100"/>
            <a:ext cx="546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组织层级扩展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6153150" y="1943100"/>
            <a:ext cx="54673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OrgTagCacheService 会计算有效标签集合；父/子标签关系会影响文件列表与检索过滤，因此不能只比较用户表中的原始逗号字符串。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5981700" y="3143250"/>
            <a:ext cx="5810250" cy="152400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153150" y="3276600"/>
            <a:ext cx="546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同一规则必须贯穿两份数据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153150" y="3657600"/>
            <a:ext cx="5467350" cy="895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MySQL 的 file_upload 控制列表、下载、预览；Elasticsearch 文档块也要保存 userId / orgTag / 公开标记，否则搜索结果可能越权。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5981700" y="4857750"/>
            <a:ext cx="5810250" cy="914400"/>
          </a:xfrm>
          <a:prstGeom prst="roundRect">
            <a:avLst>
              <a:gd name="adj" fmla="val 125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153150" y="4991100"/>
            <a:ext cx="5467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上传时决定权限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6153150" y="5372100"/>
            <a:ext cx="54673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4539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orgTag 与 isPublic 从分片上传一直携带到 Kafka task、DocumentVector、EsDocument。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6" name="矩形 6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用户管理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用户模块源码索引与建议断点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按表中顺序打开文件即可复现注册、登录、鉴权与授权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12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352550"/>
            <a:ext cx="11391900" cy="628650"/>
          </a:xfrm>
          <a:prstGeom prst="rect">
            <a:avLst/>
          </a:prstGeom>
          <a:solidFill>
            <a:srgbClr val="0B1F33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95300" y="14287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层次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209800" y="1352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305050" y="14287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638800" y="1352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734050" y="14287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入口/方法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7924800" y="1352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020050" y="142875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你要观察的变量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00050" y="198120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5300" y="205740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209800" y="1981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2305050" y="205740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frontend/src/store/modules/auth/index.ts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638800" y="1981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734050" y="205740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login() :103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7924800" y="1981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020050" y="205740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token、refreshToken、userInfo、角色判断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00050" y="260985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95300" y="26860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注册/登录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209800" y="2609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305050" y="26860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controller/UserController.java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638800" y="2609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734050" y="26860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register :55 / login :89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924800" y="2609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020050" y="268605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统一响应、异常状态、JWT 对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00050" y="323850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5300" y="331470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用户业务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209800" y="3238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305050" y="331470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service/UserService.java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638800" y="3238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5734050" y="331470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registerUser :95 / authenticate :244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7924800" y="3238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020050" y="331470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密码哈希、DEFAULT/PRIVATE 标签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00050" y="386715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95300" y="39433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Token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209800" y="38671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305050" y="39433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utils/JwtUtils.java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5638800" y="38671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734050" y="39433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generateToken :51 / validate :95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7924800" y="38671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020050" y="394335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claims、tokenId、有效期、Redis 状态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400050" y="449580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495300" y="457200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过滤器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2209800" y="44958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2305050" y="457200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config/JwtAuthenticationFilter.java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config/OrgTagAuthorizationFilter.java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638800" y="44958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5734050" y="457200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doFilterInternal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7924800" y="44958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8020050" y="457200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Authentication、request userId/role/orgTags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00050" y="512445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95300" y="5200650"/>
            <a:ext cx="1619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刷新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2209800" y="51244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2305050" y="5200650"/>
            <a:ext cx="3238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controller/AuthController.java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638800" y="51244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5734050" y="5200650"/>
            <a:ext cx="20955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refreshToken :40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7924800" y="51244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8020050" y="5200650"/>
            <a:ext cx="3676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旧 refresh 失效、新 token 对轮转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圆角矩形 62"/>
          <p:cNvSpPr>
            <a:spLocks noGrp="1"/>
          </p:cNvSpPr>
          <p:nvPr/>
        </p:nvSpPr>
        <p:spPr>
          <a:xfrm>
            <a:off x="400050" y="58293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400050" y="5829300"/>
            <a:ext cx="57150" cy="400050"/>
          </a:xfrm>
          <a:prstGeom prst="rect">
            <a:avLst/>
          </a:prstGeom>
          <a:solidFill>
            <a:srgbClr val="7A62D3"/>
          </a:solidFill>
          <a:ln w="0">
            <a:noFill/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571500" y="59150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最小练习：注册 user_a → 登录 → 查看 JWT claims → 上传私有文件 → 用 user_b 验证列表、检索、下载都不可见。</a:t>
            </a:r>
            <a:endParaRPr sz="116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33400" y="400050"/>
            <a:ext cx="1714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6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66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66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33400" y="1752600"/>
            <a:ext cx="723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文件上传与解析</a:t>
            </a:r>
            <a:endParaRPr sz="39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2647950"/>
            <a:ext cx="685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rPr>
              <a:t>同步链负责可靠接收；异步链负责把完整文件转换成可检索的文本块与向量。</a:t>
            </a:r>
            <a:endParaRPr sz="1650" b="0">
              <a:solidFill>
                <a:srgbClr val="C7D4E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810500" y="609600"/>
            <a:ext cx="57150" cy="533400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286750" y="10668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15400" y="9715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前端分片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915400" y="13239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MD5、5MB、队列、进度与恢复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286750" y="22669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915400" y="21717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可靠上传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915400" y="25241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MinIO 分片 + Redis 位图 + MySQL 元数据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286750" y="34671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915400" y="33718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合并投递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915400" y="37242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状态 CAS、MinIO compose、Kafka transaction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86750" y="46672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5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15400" y="45720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知识化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15400" y="49244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解析、语义分块、Embedding、ES 批量索引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668000" y="63341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rPr>
              <a:t>13 / 37</a:t>
            </a:r>
            <a:endParaRPr sz="900" b="0">
              <a:solidFill>
                <a:srgbClr val="8DA1B7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前端分片队列：文件级并发，分片级串行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frontend/src/constants/common.ts；frontend/src/store/modules/knowledge-base/index.ts:8-171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14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7167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选文件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UI 默认接受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.pdf/.doc/.docx/.txt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7167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计算 MD5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作为幂等键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标识整份文件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7167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加入队列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同一 md5 去重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记录 task 状态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7167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切 5MB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file.slice(start,end)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逐片 POST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23950"/>
          </a:xfrm>
          <a:prstGeom prst="roundRect">
            <a:avLst>
              <a:gd name="adj" fmla="val 10169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全部完成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POST /upload/merge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任务置 finished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2952750"/>
            <a:ext cx="6572250" cy="2514600"/>
          </a:xfrm>
          <a:prstGeom prst="roundRect">
            <a:avLst>
              <a:gd name="adj" fmla="val 4545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086100"/>
            <a:ext cx="62293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371850"/>
            <a:ext cx="622935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export const chunkSize = 5 * 1024 * 1024;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const start = task.currentChunk * chunkSize;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const end = Math.min(task.file.size, start + chunkSize);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formData.append('file', task.file.slice(start, end));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await request({ url: '/upload/chunk', method: 'post', data: formData });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// 最多 3 个文件任务同时运行；每个文件的 chunk 顺序上传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if (task.currentChunk === task.totalChunks) await mergeFile(task);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7239000" y="2952750"/>
            <a:ext cx="4552950" cy="1181100"/>
          </a:xfrm>
          <a:prstGeom prst="roundRect">
            <a:avLst>
              <a:gd name="adj" fmla="val 9677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410450" y="3086100"/>
            <a:ext cx="421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进度来源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410450" y="3467100"/>
            <a:ext cx="4210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429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前端有 currentChunk；后端也从 Redis 位图返回已上传分片与进度。恢复上传时应以后端状态为准。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7239000" y="4286250"/>
            <a:ext cx="455295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410450" y="4419600"/>
            <a:ext cx="42100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格式差异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7410450" y="4800600"/>
            <a:ext cx="42100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179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前端选择器只开放 4 类；后端 FileTypeValidationService 实际支持更多 Office、ODF、HTML、JSON、CSV、EPUB 等格式。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6" name="矩形 4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分片上传后端：三份状态共同保证幂等与可恢复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UploadController.java:102-205；UploadService.java:70-142,329-430；FileUploadRepository.java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15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Controller 校验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首片校验类型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组织上传上限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FileUpload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按 md5 + userId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创建或复用元数据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Redis 位图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GETBIT 判断重复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SETBIT 标记成功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MinIO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chunks/&lt;md5&gt;/&lt;index&gt;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保存真实字节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ChunkInfo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chunkMd5 / size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形成可核对清单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09900"/>
            <a:ext cx="3524250" cy="2076450"/>
          </a:xfrm>
          <a:prstGeom prst="roundRect">
            <a:avLst>
              <a:gd name="adj" fmla="val 5505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52450" y="3143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12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90600" y="312420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Redis：快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71500" y="3524250"/>
            <a:ext cx="31813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key = upload:&lt;userId&gt;:&lt;fileMd5&gt;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每一位对应一个 chunkIndex，用于快速计算进度与判断是否已上传。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4133850" y="3009900"/>
            <a:ext cx="3524250" cy="2076450"/>
          </a:xfrm>
          <a:prstGeom prst="roundRect">
            <a:avLst>
              <a:gd name="adj" fmla="val 5505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286250" y="3143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724400" y="312420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MinIO：真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305300" y="3524250"/>
            <a:ext cx="318135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只有对象 chunks/&lt;md5&gt;/&lt;index&gt; 存在，分片字节才真正落地。合并前会再次检查对象存在性。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7867650" y="3009900"/>
            <a:ext cx="3924300" cy="2076450"/>
          </a:xfrm>
          <a:prstGeom prst="roundRect">
            <a:avLst>
              <a:gd name="adj" fmla="val 550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020050" y="314325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12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458200" y="312420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MySQL：可追踪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039100" y="3524250"/>
            <a:ext cx="3581400" cy="1447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file_upload 保存整文件状态；chunk_info 保存每片元数据。重复请求会先查位图/记录，避免再次写入。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400050" y="54483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00050" y="5448300"/>
            <a:ext cx="57150" cy="4000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71500" y="55340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幂等键不是单独的 fileMd5，而是 fileMd5 + userId；数据库也用唯一约束处理并发创建。</a:t>
            </a:r>
            <a:endParaRPr sz="116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合并与投递：HTTP 很快返回，耗时解析移交 Kafka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UploadController.java:289-445；UploadService.java:528-653；KafkaConfig.java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16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校验所有分片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Redis/ChunkInfo/MinIO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数量与对象完整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状态 CAS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UPLOADING → MERGING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防止重复合并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MinIO compose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生成 merged/&lt;md5&gt;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删除临时 chunks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估算用量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预估 Embedding token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记录 chunk 数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Kafka 事务发送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FileProcessingTask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权限字段一并发送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09900"/>
            <a:ext cx="6419850" cy="2514600"/>
          </a:xfrm>
          <a:prstGeom prst="roundRect">
            <a:avLst>
              <a:gd name="adj" fmla="val 4545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143250"/>
            <a:ext cx="6076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429000"/>
            <a:ext cx="607695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int changed = fileUploadRepository.updateStatusIfCurrent(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id, STATUS_UPLOADING, STATUS_MERGING);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if (changed == 0) return CONFLICT;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objectUrl = uploadService.mergeChunks(md5, fileName, userId);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FileProcessingTask task = new FileProcessingTask(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objectUrl, md5, userId, orgTag, isPublic);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kafkaTemplate.executeInTransaction(ops -&gt;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ops.send(fileProcessingTopic, task));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7086600" y="3009900"/>
            <a:ext cx="4705350" cy="1200150"/>
          </a:xfrm>
          <a:prstGeom prst="roundRect">
            <a:avLst>
              <a:gd name="adj" fmla="val 9524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7258050" y="314325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为什么需要 CAS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7258050" y="3524250"/>
            <a:ext cx="43624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0151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两个 merge 请求同时到达时，只有一个能把状态从 UPLOADING 改为 MERGING；另一个得到冲突，避免重复 compose 与重复 Kafka 任务。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7086600" y="4362450"/>
            <a:ext cx="4705350" cy="1162050"/>
          </a:xfrm>
          <a:prstGeom prst="roundRect">
            <a:avLst>
              <a:gd name="adj" fmla="val 9836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7258050" y="4495800"/>
            <a:ext cx="43624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响应不等于知识已就绪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7258050" y="4876800"/>
            <a:ext cx="436245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4141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merge 成功只表示完整文件已存在且任务已投递。解析、向量化、索引仍由消费者异步完成。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3" name="矩形 42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Kafka 消费：下载 → 解析入 MySQL → 向量入 ES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consumer/FileProcessingConsumer.java:42-80；config/KafkaConfig.java:100-151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17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消费任务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fileUrl / md5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userId / orgTag / public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获取文件流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预签名 URL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或本地路径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parseAndSave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文本块写入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document_vectors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vectorizeAndStore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批量 Embedding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构造 EsDocument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完成统计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实际 token / chunk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写回 FileUpload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09900"/>
            <a:ext cx="5905500" cy="2286000"/>
          </a:xfrm>
          <a:prstGeom prst="roundRect">
            <a:avLst>
              <a:gd name="adj" fmla="val 5000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143250"/>
            <a:ext cx="55626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429000"/>
            <a:ext cx="5562600" cy="1752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@KafkaListener(topics = "${kafka.topic.file-processing}")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public void consume(FileProcessingTask task)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try (InputStream fileStream = open(task.getFileUrl()))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parseService.parseAndSave(task.getFileMd5(), fileStream,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    task.getUserId(), task.getOrgTag(), task.isPublic());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vectorizationService.vectorizeAndStore(task.getFileMd5());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}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}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572250" y="3009900"/>
            <a:ext cx="5219700" cy="1066800"/>
          </a:xfrm>
          <a:prstGeom prst="roundRect">
            <a:avLst>
              <a:gd name="adj" fmla="val 10714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743700" y="3143250"/>
            <a:ext cx="487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重试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743700" y="3524250"/>
            <a:ext cx="4876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DefaultErrorHandler 使用 FixedBackOff(3000ms, 4)：首次失败后最多再重试 4 次。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6572250" y="4229100"/>
            <a:ext cx="5219700" cy="1066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743700" y="4362450"/>
            <a:ext cx="4876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死信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743700" y="4743450"/>
            <a:ext cx="48768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持续失败由 DeadLetterPublishingRecoverer 发送到 DLT，避免消费线程永久卡住。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圆角矩形 39"/>
          <p:cNvSpPr>
            <a:spLocks noGrp="1"/>
          </p:cNvSpPr>
          <p:nvPr/>
        </p:nvSpPr>
        <p:spPr>
          <a:xfrm>
            <a:off x="400050" y="56197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400050" y="5619750"/>
            <a:ext cx="57150" cy="400050"/>
          </a:xfrm>
          <a:prstGeom prst="rect">
            <a:avLst/>
          </a:prstGeom>
          <a:solidFill>
            <a:srgbClr val="D84B4B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571500" y="57054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排错边界：上传接口成功但搜不到内容时，应从 Kafka consumer 日志开始，而不是回到分片接口。</a:t>
            </a:r>
            <a:endParaRPr sz="116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3" name="矩形 22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解析分流：PDF 保留页码，其他格式走通用流式解析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service/ParseService.java:72-102,278-391；pom.xml（Tika 2.9.1 / PDFBox）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18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533400" y="1485900"/>
            <a:ext cx="1524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8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文件流</a:t>
            </a:r>
            <a:endParaRPr sz="18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200150" y="1952625"/>
            <a:ext cx="38100" cy="319087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1200150" y="2571750"/>
            <a:ext cx="6667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1200150" y="4248150"/>
            <a:ext cx="6667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1" name="圆角矩形 10"/>
          <p:cNvSpPr>
            <a:spLocks noGrp="1"/>
          </p:cNvSpPr>
          <p:nvPr/>
        </p:nvSpPr>
        <p:spPr>
          <a:xfrm>
            <a:off x="1866900" y="1962150"/>
            <a:ext cx="4438650" cy="1466850"/>
          </a:xfrm>
          <a:prstGeom prst="roundRect">
            <a:avLst>
              <a:gd name="adj" fmla="val 7792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2038350" y="20955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PDF 分支｜PDFBox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2038350" y="2476500"/>
            <a:ext cx="4095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9166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读取 PDDocument；逐页提取文本；清理页眉页脚/空白；每个子块保存 pageNumber，便于聊天引用直接定位到“第 N 页”。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1866900" y="3638550"/>
            <a:ext cx="4438650" cy="1466850"/>
          </a:xfrm>
          <a:prstGeom prst="roundRect">
            <a:avLst>
              <a:gd name="adj" fmla="val 7792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2038350" y="3771900"/>
            <a:ext cx="4095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通用分支｜Apache Tika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038350" y="4152900"/>
            <a:ext cx="409575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AutoDetectParser + BodyContentHandler；支持 Office、文本、HTML 等多种格式；先流式生成较大的父块，再做语义子分块。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6686550" y="1657350"/>
            <a:ext cx="5105400" cy="3276600"/>
          </a:xfrm>
          <a:prstGeom prst="roundRect">
            <a:avLst>
              <a:gd name="adj" fmla="val 3488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6858000" y="1790700"/>
            <a:ext cx="4762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6858000" y="2076450"/>
            <a:ext cx="4762500" cy="2743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buffered.mark(8);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byte[] header = buffered.readNBytes(5);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buffered.reset();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if (new String(header).startsWith("%PDF-"))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parsePdfAndSave(...);       // 保留页码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} else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AutoDetectParser parser = new AutoDetectParser();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parser.parse(stream, handler, metadata, context);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}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400050" y="54673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400050" y="5467350"/>
            <a:ext cx="57150" cy="4000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571500" y="55530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与脑图的差异：当前实现并非“所有 Office 都由 POI 手写解析”；Tika 是通用入口，PDF 才单独走 PDFBox。</a:t>
            </a:r>
            <a:endParaRPr sz="116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6" name="矩形 4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语义分块：优先保留段落和句子，再退化到字符切分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ParseService.java:500-643；application.yml file.chunk.text-size=512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19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父块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通用解析先形成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约 1MB 文本段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段落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按空行 / 换行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尽量保持结构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句子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标点拆分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不超过目标长度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621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HanLP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中文分词辅助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控制边界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字符退化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极长无标点文本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强制切到 512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2952750"/>
            <a:ext cx="3524250" cy="2190750"/>
          </a:xfrm>
          <a:prstGeom prst="roundRect">
            <a:avLst>
              <a:gd name="adj" fmla="val 5217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52450" y="3086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90600" y="30670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为什么不是固定截断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71500" y="3467100"/>
            <a:ext cx="31813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固定每 512 字符切开会把标题、句子或语义单元从中间截断，降低向量语义质量，也让引用证据难以阅读。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4133850" y="2952750"/>
            <a:ext cx="3524250" cy="2190750"/>
          </a:xfrm>
          <a:prstGeom prst="roundRect">
            <a:avLst>
              <a:gd name="adj" fmla="val 521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286250" y="3086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12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724400" y="30670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每块保存什么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305300" y="3467100"/>
            <a:ext cx="318135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fileMd5、chunkId、textContent、pageNumber、anchorText，以及 userId / orgTag / isPublic。权限字段从这一层开始与文本绑定。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7867650" y="2952750"/>
            <a:ext cx="3924300" cy="2190750"/>
          </a:xfrm>
          <a:prstGeom prst="roundRect">
            <a:avLst>
              <a:gd name="adj" fmla="val 521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020050" y="3086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12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458200" y="30670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调参影响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039100" y="3467100"/>
            <a:ext cx="3581400" cy="1562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chunk 太小：上下文碎、请求多、成本高。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chunk 太大：召回不精确、Prompt 膨胀。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改 text-size 后应重建知识库并做检索评估。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400050" y="55245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00050" y="5524500"/>
            <a:ext cx="57150" cy="400050"/>
          </a:xfrm>
          <a:prstGeom prst="rect">
            <a:avLst/>
          </a:prstGeom>
          <a:solidFill>
            <a:srgbClr val="3D8DFF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71500" y="56102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默认目标文本块大小为 512；PDF 分页信息会随块保留。</a:t>
            </a:r>
            <a:endParaRPr sz="116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1" name="矩形 20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向量化与索引：同一文本块在 MySQL 与 ES 各有一份职责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VectorizationService.java:47-96；EmbeddingClient.java:77-103；ElasticsearchService.java:34-68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20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409700"/>
            <a:ext cx="3810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MySQL document_vectors</a:t>
            </a:r>
            <a:endParaRPr sz="157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6800850" y="1409700"/>
            <a:ext cx="4572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Elasticsearch knowledge_base</a:t>
            </a:r>
            <a:endParaRPr sz="157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圆角矩形 8"/>
          <p:cNvSpPr>
            <a:spLocks noGrp="1"/>
          </p:cNvSpPr>
          <p:nvPr/>
        </p:nvSpPr>
        <p:spPr>
          <a:xfrm>
            <a:off x="400050" y="1885950"/>
            <a:ext cx="4095750" cy="2628900"/>
          </a:xfrm>
          <a:prstGeom prst="roundRect">
            <a:avLst>
              <a:gd name="adj" fmla="val 4348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571500" y="2019300"/>
            <a:ext cx="37528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可追踪的原始分块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71500" y="2400300"/>
            <a:ext cx="375285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fileMd5 / chunkId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textContent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pageNumber / anchorText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userId / orgTag / isPublic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endParaRPr sz="1240"/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便于重新向量化、审计与关系查询。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686300" y="3143250"/>
            <a:ext cx="179070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4810125" y="2552700"/>
            <a:ext cx="1524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3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EmbeddingClient</a:t>
            </a:r>
            <a:endParaRPr sz="13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895850" y="3352800"/>
            <a:ext cx="1352550" cy="800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12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批量请求</a:t>
            </a:r>
            <a:endParaRPr sz="112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12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限流 / 额度预留</a:t>
            </a:r>
            <a:endParaRPr sz="112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ctr">
              <a:lnSpc>
                <a:spcPct val="108000"/>
              </a:lnSpc>
              <a:buNone/>
              <a:defRPr sz="112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失败回滚</a:t>
            </a:r>
            <a:endParaRPr sz="112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6724650" y="1885950"/>
            <a:ext cx="5067300" cy="2628900"/>
          </a:xfrm>
          <a:prstGeom prst="roundRect">
            <a:avLst>
              <a:gd name="adj" fmla="val 4348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6896100" y="2019300"/>
            <a:ext cx="47244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用于检索的索引文档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896100" y="2400300"/>
            <a:ext cx="4724400" cy="2000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textContent（IK 分词）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vector（dense_vector, 2048, cosine）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fileMd5 / chunkId / pageNumber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• userId / orgTag / 公开标记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endParaRPr sz="1240"/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bulkIndex 一次批量写入多个块。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400050" y="4705350"/>
            <a:ext cx="11391900" cy="1104900"/>
          </a:xfrm>
          <a:prstGeom prst="roundRect">
            <a:avLst>
              <a:gd name="adj" fmla="val 10345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71500" y="4838700"/>
            <a:ext cx="110490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CORE LOOP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71500" y="5124450"/>
            <a:ext cx="11049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float[] vector = embeddingClient.embedWithUsage(text, DOCUMENT, requesterId);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esDocuments.add(new EsDocument(text, vector, userId, orgTag, isPublic));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elasticsearchService.bulkIndex(esDocuments);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8" name="矩形 57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文件上传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上传状态、存储键与排错入口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UploadService / UploadController / FileProcessingConsumer / elasticsearch-mapping.json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21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371600"/>
            <a:ext cx="11391900" cy="723900"/>
          </a:xfrm>
          <a:prstGeom prst="rect">
            <a:avLst/>
          </a:prstGeom>
          <a:solidFill>
            <a:srgbClr val="0B1F33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95300" y="1447800"/>
            <a:ext cx="1762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阶段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352675" y="13716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447925" y="144780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关键状态/键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210175" y="13716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305425" y="144780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主要文件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353425" y="13716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448675" y="1447800"/>
            <a:ext cx="32480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失败时先看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00050" y="2095500"/>
            <a:ext cx="11391900" cy="72390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5300" y="2171700"/>
            <a:ext cx="1762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分片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352675" y="20955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2447925" y="217170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upload:&lt;userId&gt;:&lt;md5&gt; 位图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chunks/&lt;md5&gt;/&lt;index&gt;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210175" y="20955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305425" y="217170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UploadController / UploadService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353425" y="20955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448675" y="2171700"/>
            <a:ext cx="32480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HTTP 返回、Redis 位、MinIO 对象、chunk_info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00050" y="2819400"/>
            <a:ext cx="11391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95300" y="2895600"/>
            <a:ext cx="1762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合并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352675" y="28194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447925" y="289560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UPLOADING → MERGING → COMPLETED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merged/&lt;md5&gt;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210175" y="28194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305425" y="289560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UploadController.mergeFile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UploadService.mergeChunks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353425" y="28194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448675" y="2895600"/>
            <a:ext cx="32480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CAS 返回值、分片数量、compose 异常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00050" y="3543300"/>
            <a:ext cx="11391900" cy="72390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5300" y="3619500"/>
            <a:ext cx="1762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投递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352675" y="35433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447925" y="361950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file-processing-topic1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210175" y="35433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5305425" y="361950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KafkaConfig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FileProcessingTask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353425" y="35433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448675" y="3619500"/>
            <a:ext cx="32480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生产者事务、topic、序列化、消费者组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00050" y="4267200"/>
            <a:ext cx="11391900" cy="7239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95300" y="4343400"/>
            <a:ext cx="1762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解析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352675" y="42672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447925" y="434340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document_vectors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5210175" y="42672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305425" y="434340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FileProcessingConsumer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ParseService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353425" y="42672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448675" y="4343400"/>
            <a:ext cx="32480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下载 URL、格式探测、分块数量、页码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400050" y="4991100"/>
            <a:ext cx="11391900" cy="72390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495300" y="5067300"/>
            <a:ext cx="17621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索引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2352675" y="49911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2447925" y="5067300"/>
            <a:ext cx="2667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knowledge_base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210175" y="49911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5305425" y="5067300"/>
            <a:ext cx="295275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VectorizationService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ElasticsearchService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353425" y="4991100"/>
            <a:ext cx="9525" cy="7239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8448675" y="5067300"/>
            <a:ext cx="3248025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2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 响应维度、bulk error、索引 mapping</a:t>
            </a:r>
            <a:endParaRPr sz="102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圆角矩形 54"/>
          <p:cNvSpPr>
            <a:spLocks noGrp="1"/>
          </p:cNvSpPr>
          <p:nvPr/>
        </p:nvSpPr>
        <p:spPr>
          <a:xfrm>
            <a:off x="400050" y="58102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00050" y="5810250"/>
            <a:ext cx="57150" cy="400050"/>
          </a:xfrm>
          <a:prstGeom prst="rect">
            <a:avLst/>
          </a:prstGeom>
          <a:solidFill>
            <a:srgbClr val="D84B4B"/>
          </a:solidFill>
          <a:ln w="0">
            <a:noFill/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571500" y="58959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判断“上传完成”要区分：文件合并完成 vs 文本解析完成 vs 向量索引完成。</a:t>
            </a:r>
            <a:endParaRPr sz="116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33400" y="400050"/>
            <a:ext cx="1714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66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66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660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33400" y="1752600"/>
            <a:ext cx="723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文件知识检索</a:t>
            </a:r>
            <a:endParaRPr sz="39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2647950"/>
            <a:ext cx="685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rPr>
              <a:t>先把问题向量化，再同时要求语义相似与关键词匹配，最后把权限条件下推到 ES。</a:t>
            </a:r>
            <a:endParaRPr sz="1650" b="0">
              <a:solidFill>
                <a:srgbClr val="C7D4E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810500" y="609600"/>
            <a:ext cx="57150" cy="533400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286750" y="10668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15400" y="9715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请求入口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915400" y="13239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GET /api/v1/search/hybrid?query&amp;topK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286750" y="22669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915400" y="21717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查询向量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915400" y="25241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QUERY 类型 Embedding，独立限流与额度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286750" y="34671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5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915400" y="33718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混合排序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915400" y="37242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KNN 大召回 + AND match + BM25 rescore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86750" y="46672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5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15400" y="45720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权限与证据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15400" y="49244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本人 / 公开 / 组织；补充文件名与页码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668000" y="63341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rPr>
              <a:t>22 / 37</a:t>
            </a:r>
            <a:endParaRPr sz="900" b="0">
              <a:solidFill>
                <a:srgbClr val="8DA1B7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知识检索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检索请求链：前端传 query，身份来自 Filter 而不是可信参数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frontend/src/views/knowledge-base/modules/search-dialog.vue；SearchController.java:47；HybridSearchService.java:63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23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20002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SearchDialog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query / topK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展示 score、来源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20002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686"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GET /search/hybrid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Authorization header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userId 参数不应作为信任源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20002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OrgTag Filter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从 JWT 提取身份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放入 request attributes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200025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SearchController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读取 userId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调用 permission 版本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HybridSearch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向量、ES 查询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结果补文件名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67050"/>
            <a:ext cx="5581650" cy="2190750"/>
          </a:xfrm>
          <a:prstGeom prst="roundRect">
            <a:avLst>
              <a:gd name="adj" fmla="val 5217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200400"/>
            <a:ext cx="52387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486150"/>
            <a:ext cx="5238750" cy="1657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@GetMapping("/hybrid")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public Map&lt;String,Object&gt; hybridSearch(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@RequestParam String query,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@RequestParam(defaultValue="10") int topK,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HttpServletRequest request)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String userId = (String) request.getAttribute("userId");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return searchWithPermission(query, userId, topK);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}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6267450" y="3067050"/>
            <a:ext cx="5524500" cy="1066800"/>
          </a:xfrm>
          <a:prstGeom prst="roundRect">
            <a:avLst>
              <a:gd name="adj" fmla="val 10714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38900" y="3200400"/>
            <a:ext cx="518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为什么不信任前端 userId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438900" y="3581400"/>
            <a:ext cx="51816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任何用户都能修改 query string；授权身份必须来自已验证 JWT。前端传 userId 只能算兼容信息，不能成为权限依据。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6267450" y="4286250"/>
            <a:ext cx="5524500" cy="97155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438900" y="4419600"/>
            <a:ext cx="5181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降级分支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438900" y="4800600"/>
            <a:ext cx="51816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88373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如果查询 Embedding 失败，服务会退回带同样权限过滤的 TEXT_ONLY 文本检索。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6" name="矩形 4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知识检索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混合检索不是“向量分 + 关键词分”简单相加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HybridSearchService.java:63-171；elasticsearch-mapping.json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24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8120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430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Query Embedding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问题 → 2048 维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用途类型 QUERY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8120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430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KNN recall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k = topK × 30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扩大候选集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8120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430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AND match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textContent 必须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匹配查询词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81200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430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BM25 rescore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window = recallK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queryWeight=.2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43000"/>
          </a:xfrm>
          <a:prstGeom prst="roundRect">
            <a:avLst>
              <a:gd name="adj" fmla="val 100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TopK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71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按最终 _score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输出证据块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2990850"/>
            <a:ext cx="3638550" cy="2152650"/>
          </a:xfrm>
          <a:prstGeom prst="roundRect">
            <a:avLst>
              <a:gd name="adj" fmla="val 5310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52450" y="31242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12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990600" y="310515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第一阶段：大召回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571500" y="3505200"/>
            <a:ext cx="32956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KNN 用向量相似度找语义相关候选；recallK 放大到 topK 的 30 倍，为后续关键词重排留空间。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4267200" y="2990850"/>
            <a:ext cx="3638550" cy="2152650"/>
          </a:xfrm>
          <a:prstGeom prst="roundRect">
            <a:avLst>
              <a:gd name="adj" fmla="val 5310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419600" y="31242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4857750" y="3105150"/>
            <a:ext cx="28956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硬约束：关键词 AND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438650" y="3505200"/>
            <a:ext cx="329565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bool.must.match(operator=AND) 让候选仍需满足文本匹配，避免只有语义相近但缺少关键实体的块。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8134350" y="2990850"/>
            <a:ext cx="3657600" cy="2152650"/>
          </a:xfrm>
          <a:prstGeom prst="roundRect">
            <a:avLst>
              <a:gd name="adj" fmla="val 531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8286750" y="31242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12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8724900" y="3105150"/>
            <a:ext cx="29146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第二阶段：BM25 重排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8305800" y="3505200"/>
            <a:ext cx="3314700" cy="1524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rescore 对候选窗口重新计算关键词相关度；最终 score 融合原始查询权重 0.2 与 rescore 权重 1.0。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圆角矩形 42"/>
          <p:cNvSpPr>
            <a:spLocks noGrp="1"/>
          </p:cNvSpPr>
          <p:nvPr/>
        </p:nvSpPr>
        <p:spPr>
          <a:xfrm>
            <a:off x="400050" y="55054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400050" y="5505450"/>
            <a:ext cx="57150" cy="40005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571500" y="55911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TEXT_ONLY 降级仍会设置 minimumScore，并标记 retrievalMode=TEXT_ONLY。</a:t>
            </a:r>
            <a:endParaRPr sz="116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矩形 21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知识检索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权限过滤下推 ES：召回之前就排除无权文档块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HybridSearchService.searchWithPermission；OrgTagCacheService；EsDocument / elasticsearch-mapping.json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25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00050" y="1466850"/>
            <a:ext cx="4953000" cy="3028950"/>
          </a:xfrm>
          <a:prstGeom prst="roundRect">
            <a:avLst>
              <a:gd name="adj" fmla="val 3774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71500" y="1600200"/>
            <a:ext cx="46101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ES BOOL FILTER (概念化自源码)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571500" y="1885950"/>
            <a:ext cx="4610100" cy="2495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permission.should(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term(userId == currentDbUserId),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term(public == true),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terms(orgTag in effectiveOrgTags)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).minimumShouldMatch("1");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query.bool.must(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match(textContent, query, operator=AND),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permission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5657850" y="1466850"/>
            <a:ext cx="6134100" cy="1181100"/>
          </a:xfrm>
          <a:prstGeom prst="roundRect">
            <a:avLst>
              <a:gd name="adj" fmla="val 9677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829300" y="1600200"/>
            <a:ext cx="5791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effectiveOrgTags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5829300" y="1981200"/>
            <a:ext cx="5791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由用户原始组织标签经过层级扩展得到；搜索与文件列表必须复用同一口径，否则会出现“列表可见但搜不到”或相反。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圆角矩形 12"/>
          <p:cNvSpPr>
            <a:spLocks noGrp="1"/>
          </p:cNvSpPr>
          <p:nvPr/>
        </p:nvSpPr>
        <p:spPr>
          <a:xfrm>
            <a:off x="5657850" y="2819400"/>
            <a:ext cx="61341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5829300" y="2952750"/>
            <a:ext cx="5791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为什么要在查询阶段过滤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5829300" y="3333750"/>
            <a:ext cx="57912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先召回全部再在 Java 里删除，会浪费 topK 名额，也存在越权数据短暂进入应用层内存与日志的风险。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圆角矩形 15"/>
          <p:cNvSpPr>
            <a:spLocks noGrp="1"/>
          </p:cNvSpPr>
          <p:nvPr/>
        </p:nvSpPr>
        <p:spPr>
          <a:xfrm>
            <a:off x="5657850" y="4171950"/>
            <a:ext cx="6134100" cy="1104900"/>
          </a:xfrm>
          <a:prstGeom prst="roundRect">
            <a:avLst>
              <a:gd name="adj" fmla="val 10345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5829300" y="4305300"/>
            <a:ext cx="57912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需要核对的字段命名</a:t>
            </a:r>
            <a:endParaRPr sz="1500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5829300" y="4686300"/>
            <a:ext cx="5791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mapping 使用 isPublic，而查询/JavaBeans 序列化处出现 public 字段写法；重建索引或升级序列化器时应验证实际 _source 字段名与查询一致。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400050" y="56007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00050" y="5600700"/>
            <a:ext cx="57150" cy="400050"/>
          </a:xfrm>
          <a:prstGeom prst="rect">
            <a:avLst/>
          </a:prstGeom>
          <a:solidFill>
            <a:srgbClr val="D84B4B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71500" y="56864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安全底线：如果 userId 没有被 Filter 注入，不应回退到“无权限过滤的搜索”。</a:t>
            </a:r>
            <a:endParaRPr sz="116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6" name="矩形 6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知识检索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检索结果既是排序结果，也是聊天引用证据的数据源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SearchResult.java；HybridSearchService.attachFileNames :480；search-dialog.vue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26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390650"/>
            <a:ext cx="11391900" cy="609600"/>
          </a:xfrm>
          <a:prstGeom prst="rect">
            <a:avLst/>
          </a:prstGeom>
          <a:solidFill>
            <a:srgbClr val="0B1F33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95300" y="14668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字段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590800" y="13906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686050" y="14668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来源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448300" y="13906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543550" y="14668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用途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15300" y="13906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210550" y="14668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进入聊天后的作用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00050" y="2000250"/>
            <a:ext cx="11391900" cy="60960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5300" y="20764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textContent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590800" y="20002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2686050" y="20764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ES 文档块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448300" y="20002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543550" y="20764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搜索列表正文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115300" y="20002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210550" y="20764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截断为上下文 snippet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00050" y="2609850"/>
            <a:ext cx="113919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95300" y="26860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score / retrievalMode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590800" y="26098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686050" y="26860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ES _score / 降级分支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448300" y="26098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543550" y="26860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说明排序与模式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115300" y="26098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210550" y="26860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生成 retrievalLabel、证据解释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00050" y="3219450"/>
            <a:ext cx="11391900" cy="60960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5300" y="32956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fileMd5 / fileName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590800" y="32194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686050" y="32956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ES + MySQL file_upload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448300" y="32194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5543550" y="32956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展示来源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115300" y="32194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210550" y="32956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引用编号映射与预览定位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00050" y="3829050"/>
            <a:ext cx="113919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95300" y="39052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pageNumber / anchorText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590800" y="38290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686050" y="39052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ParseService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5448300" y="38290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543550" y="39052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定位页和语义锚点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115300" y="38290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210550" y="39052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来源#N: 文件 | 第N页；证据摘要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400050" y="4438650"/>
            <a:ext cx="11391900" cy="60960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495300" y="45148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matchedChunkText / chunkId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2590800" y="44386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2686050" y="45148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HybridSearchService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448300" y="44386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5543550" y="45148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保留命中块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115300" y="44386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8210550" y="45148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引用详情页显示完整匹配证据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00050" y="5048250"/>
            <a:ext cx="11391900" cy="60960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95300" y="5124450"/>
            <a:ext cx="20002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userId/orgTag/public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2590800" y="50482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2686050" y="5124450"/>
            <a:ext cx="26670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索引权限字段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448300" y="50482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5543550" y="5124450"/>
            <a:ext cx="2476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不直接展示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8115300" y="5048250"/>
            <a:ext cx="9525" cy="60960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8210550" y="5124450"/>
            <a:ext cx="34861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03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决定是否能被召回和预览</a:t>
            </a:r>
            <a:endParaRPr sz="103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圆角矩形 62"/>
          <p:cNvSpPr>
            <a:spLocks noGrp="1"/>
          </p:cNvSpPr>
          <p:nvPr/>
        </p:nvSpPr>
        <p:spPr>
          <a:xfrm>
            <a:off x="400050" y="58102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400050" y="5810250"/>
            <a:ext cx="57150" cy="400050"/>
          </a:xfrm>
          <a:prstGeom prst="rect">
            <a:avLst/>
          </a:prstGeom>
          <a:solidFill>
            <a:srgbClr val="20A36A"/>
          </a:solidFill>
          <a:ln w="0">
            <a:noFill/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571500" y="58959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建议调试：搜索同一句话，分别记录 query vector 是否成功、retrievalMode、TopK score、文件名补全与页码。</a:t>
            </a:r>
            <a:endParaRPr sz="116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F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18" name="矩形 17"/>
          <p:cNvSpPr>
            <a:spLocks noGrp="1"/>
          </p:cNvSpPr>
          <p:nvPr/>
        </p:nvSpPr>
        <p:spPr>
          <a:xfrm>
            <a:off x="533400" y="400050"/>
            <a:ext cx="1714500" cy="1143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66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66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660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533400" y="1752600"/>
            <a:ext cx="7239000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39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390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552450" y="2647950"/>
            <a:ext cx="68580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0">
                <a:solidFill>
                  <a:srgbClr val="C7D4E3"/>
                </a:solidFill>
                <a:latin typeface="微软雅黑"/>
                <a:ea typeface="微软雅黑"/>
                <a:cs typeface="微软雅黑"/>
              </a:rPr>
              <a:t>聊天链把“身份、检索、历史、提示词、模型流、引用预览”串成一个长期 WebSocket 会话。</a:t>
            </a:r>
            <a:endParaRPr sz="1650" b="0">
              <a:solidFill>
                <a:srgbClr val="C7D4E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" name="矩形 3"/>
          <p:cNvSpPr>
            <a:spLocks noGrp="1"/>
          </p:cNvSpPr>
          <p:nvPr/>
        </p:nvSpPr>
        <p:spPr>
          <a:xfrm>
            <a:off x="7810500" y="609600"/>
            <a:ext cx="57150" cy="5334000"/>
          </a:xfrm>
          <a:prstGeom prst="rect">
            <a:avLst/>
          </a:prstGeom>
          <a:solidFill>
            <a:srgbClr val="D98B18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8286750" y="10668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35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8915400" y="9715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建连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8915400" y="13239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JWT 路径鉴权、20s 心跳、失败重连策略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8286750" y="22669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35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8915400" y="21717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RAG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915400" y="25241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限流 → 历史 → 带权限 Top5 → 上下文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8286750" y="34671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35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8915400" y="337185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流式回答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915400" y="372427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OpenAI 风格 /chat/completions，chunk 回传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8286750" y="466725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35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35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8915400" y="4572000"/>
            <a:ext cx="2476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65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可追溯</a:t>
            </a:r>
            <a:endParaRPr sz="1650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8915400" y="4924425"/>
            <a:ext cx="25527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0">
                <a:solidFill>
                  <a:srgbClr val="B8C8D8"/>
                </a:solidFill>
                <a:latin typeface="微软雅黑"/>
                <a:ea typeface="微软雅黑"/>
                <a:cs typeface="微软雅黑"/>
              </a:rPr>
              <a:t>Redis 保存历史与引用映射；点击预览原文</a:t>
            </a:r>
            <a:endParaRPr sz="1165" b="0">
              <a:solidFill>
                <a:srgbClr val="B8C8D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0668000" y="6334125"/>
            <a:ext cx="952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DA1B7"/>
                </a:solidFill>
                <a:latin typeface="微软雅黑"/>
                <a:ea typeface="微软雅黑"/>
                <a:cs typeface="微软雅黑"/>
              </a:rPr>
              <a:t>27 / 37</a:t>
            </a:r>
            <a:endParaRPr sz="900" b="0">
              <a:solidFill>
                <a:srgbClr val="8DA1B7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0" name="矩形 39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3643"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WebSocket 建连与协议：HTTP 鉴权被拆成“路径 Token + 握手校验”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frontend/src/store/modules/chat/index.ts:23-79；WebSocketConfig.java:25；ChatWebSocketHandler.java:48-163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28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5717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计算 URL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/proxy-ws/chat/{JWT}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Token 先 URL 编码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8768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7051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8384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31623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握手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8384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后端 /chat/{token}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校验 origin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18185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50101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1435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54673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JWT 校验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51435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validateToken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失败 close 1008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9486900" y="1990725"/>
            <a:ext cx="1333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731520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744855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77240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连接确认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744855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{type:connection,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sessionId}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9620250" y="1428750"/>
            <a:ext cx="2171700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9753600" y="15430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10077450" y="1524000"/>
            <a:ext cx="15811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31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长连接保活</a:t>
            </a:r>
            <a:endParaRPr sz="131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9753600" y="1905000"/>
            <a:ext cx="1905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每 20s ping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10s 等 pong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400050" y="3009900"/>
            <a:ext cx="5219700" cy="2343150"/>
          </a:xfrm>
          <a:prstGeom prst="roundRect">
            <a:avLst>
              <a:gd name="adj" fmla="val 4878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571500" y="3143250"/>
            <a:ext cx="48768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571500" y="3429000"/>
            <a:ext cx="4876800" cy="1809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useWebSocket(socketUrl,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heartbeat: {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message: '__chat_ping__',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responseMessage: '__chat_pong__',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interval: 20_000,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pongTimeout: 10_000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},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autoReconnect: { delay: 1500, ... }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});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5905500" y="3009900"/>
            <a:ext cx="5886450" cy="1066800"/>
          </a:xfrm>
          <a:prstGeom prst="roundRect">
            <a:avLst>
              <a:gd name="adj" fmla="val 10714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076950" y="3143250"/>
            <a:ext cx="554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sessionId 的用途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6076950" y="3524250"/>
            <a:ext cx="55435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它不是用户 ID，而是本次 WebSocket 连接 ID。ChatHandler 用它保存流式响应构建器、停止标记与“引用编号 → 文件证据”映射。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圆角矩形 36"/>
          <p:cNvSpPr>
            <a:spLocks noGrp="1"/>
          </p:cNvSpPr>
          <p:nvPr/>
        </p:nvSpPr>
        <p:spPr>
          <a:xfrm>
            <a:off x="5905500" y="4229100"/>
            <a:ext cx="5886450" cy="1123950"/>
          </a:xfrm>
          <a:prstGeom prst="roundRect">
            <a:avLst>
              <a:gd name="adj" fmla="val 10169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6076950" y="4362450"/>
            <a:ext cx="5543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鉴权失败不盲目重连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6076950" y="4743450"/>
            <a:ext cx="554355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4431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前端在 1002/1003/1007/1008 或握手前关闭时停止自动重试，并提示重新登录，避免用同一失效 Token 无限重连。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5" name="矩形 44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ChatHandler：RAG 的真正编排中心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service/ChatHandler.java:69-118,197-348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29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219325" y="1952625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390650"/>
            <a:ext cx="1819275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限流</a:t>
            </a:r>
            <a:endParaRPr sz="118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866900"/>
            <a:ext cx="15525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checkChatByUser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超限回 429 + retryAfter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133850" y="1952625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314575" y="1390650"/>
            <a:ext cx="1819275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447925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771775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会话</a:t>
            </a:r>
            <a:endParaRPr sz="118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47925" y="1866900"/>
            <a:ext cx="15525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user:&lt;id&gt;:current_conversation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7 天 TTL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048375" y="1952625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4229100" y="1390650"/>
            <a:ext cx="1819275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362450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686300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历史</a:t>
            </a:r>
            <a:endParaRPr sz="118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362450" y="1866900"/>
            <a:ext cx="15525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conversation:&lt;uuid&gt;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最近 20 条消息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962900" y="1952625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6143625" y="1390650"/>
            <a:ext cx="1819275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276975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600825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Top 5 检索</a:t>
            </a:r>
            <a:endParaRPr sz="118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276975" y="1866900"/>
            <a:ext cx="15525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searchWithPermission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问题本身作为 query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877425" y="1952625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8" name="圆角矩形 27"/>
          <p:cNvSpPr>
            <a:spLocks noGrp="1"/>
          </p:cNvSpPr>
          <p:nvPr/>
        </p:nvSpPr>
        <p:spPr>
          <a:xfrm>
            <a:off x="8058150" y="1390650"/>
            <a:ext cx="1819275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191500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515350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上下文 + 引用</a:t>
            </a:r>
            <a:endParaRPr sz="118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191500" y="1866900"/>
            <a:ext cx="15525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[1] 文件 | 页码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session 引用映射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9972675" y="1390650"/>
            <a:ext cx="1819275" cy="1162050"/>
          </a:xfrm>
          <a:prstGeom prst="roundRect">
            <a:avLst>
              <a:gd name="adj" fmla="val 983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0106025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0429875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8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LLM 流</a:t>
            </a:r>
            <a:endParaRPr sz="118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0106025" y="1866900"/>
            <a:ext cx="1552575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streamResponse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每块发 WebSocket</a:t>
            </a:r>
            <a:endParaRPr sz="1015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400050" y="2952750"/>
            <a:ext cx="6838950" cy="2514600"/>
          </a:xfrm>
          <a:prstGeom prst="roundRect">
            <a:avLst>
              <a:gd name="adj" fmla="val 4545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71500" y="3086100"/>
            <a:ext cx="64960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71500" y="3371850"/>
            <a:ext cx="6496050" cy="1981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rateLimitService.checkChatByUser(userId);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String conversationId = getOrCreateConversationId(userId);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List&lt;Map&lt;String,String&gt;&gt; history = getConversationHistory(conversationId);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List&lt;SearchResult&gt; hits = searchService.searchWithPermission(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userMessage, userId, 5);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String context = buildContext(hits, session.getId(), userMessage);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llmProviderRouter.streamResponse(userId, userMessage,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  context, history, this::sendChunk, this::handleError);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7524750" y="2952750"/>
            <a:ext cx="4267200" cy="1181100"/>
          </a:xfrm>
          <a:prstGeom prst="roundRect">
            <a:avLst>
              <a:gd name="adj" fmla="val 9677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7696200" y="30861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无检索结果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7696200" y="3467100"/>
            <a:ext cx="3924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2341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buildContext 返回空串；LLM Provider 在系统提示词中插入 no-result-text，要求模型明确说明没有找到知识库依据。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7524750" y="4286250"/>
            <a:ext cx="4267200" cy="1181100"/>
          </a:xfrm>
          <a:prstGeom prst="roundRect">
            <a:avLst>
              <a:gd name="adj" fmla="val 9677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7696200" y="4419600"/>
            <a:ext cx="3924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上下文长度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7696200" y="4800600"/>
            <a:ext cx="39243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7461"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每条检索 snippet 最多 300 字；匹配块用于引用详情最多 800 字；证据摘要最多 160 字。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6" name="矩形 2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Prompt 与模型流：规则、证据、历史、当前问题按顺序组装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LlmProviderRouter.java:41-210；application.yml ai.prompt / ai.generation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30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409700"/>
            <a:ext cx="2857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7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messages[] 顺序</a:t>
            </a:r>
            <a:endParaRPr sz="157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905000"/>
            <a:ext cx="4953000" cy="781050"/>
          </a:xfrm>
          <a:prstGeom prst="roundRect">
            <a:avLst>
              <a:gd name="adj" fmla="val 14634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90550" y="20955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SYSTEM</a:t>
            </a:r>
            <a:endParaRPr sz="112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619250" y="2000250"/>
            <a:ext cx="3524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rules + &lt;&lt;REF&gt;&gt; + Top5 context + &lt;&lt;END&gt;&gt;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00050" y="2895600"/>
            <a:ext cx="49530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90550" y="30861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HISTORY</a:t>
            </a:r>
            <a:endParaRPr sz="112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619250" y="2990850"/>
            <a:ext cx="3524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Redis 中最近 20 条 user/assistant 消息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00050" y="3886200"/>
            <a:ext cx="4953000" cy="781050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90550" y="4076700"/>
            <a:ext cx="952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USER</a:t>
            </a:r>
            <a:endParaRPr sz="112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619250" y="3981450"/>
            <a:ext cx="35242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本轮 userMessage</a:t>
            </a:r>
            <a:endParaRPr sz="1275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圆角矩形 16"/>
          <p:cNvSpPr>
            <a:spLocks noGrp="1"/>
          </p:cNvSpPr>
          <p:nvPr/>
        </p:nvSpPr>
        <p:spPr>
          <a:xfrm>
            <a:off x="5753100" y="1466850"/>
            <a:ext cx="6038850" cy="3238500"/>
          </a:xfrm>
          <a:prstGeom prst="roundRect">
            <a:avLst>
              <a:gd name="adj" fmla="val 3529"/>
            </a:avLst>
          </a:prstGeom>
          <a:solidFill>
            <a:srgbClr val="0E1726"/>
          </a:solidFill>
          <a:ln w="9525">
            <a:solidFill>
              <a:srgbClr val="0E1726"/>
            </a:solidFill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5924550" y="1600200"/>
            <a:ext cx="569595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6DCBF4"/>
                </a:solidFill>
                <a:latin typeface="微软雅黑"/>
                <a:ea typeface="微软雅黑"/>
                <a:cs typeface="微软雅黑"/>
              </a:rPr>
              <a:t>SOURCE EXCERPT</a:t>
            </a:r>
            <a:endParaRPr sz="900" b="1">
              <a:solidFill>
                <a:srgbClr val="6DCBF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924550" y="1885950"/>
            <a:ext cx="5695950" cy="2705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request.put("model", provider.model());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request.put("messages", buildMessages(...));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request.put("stream", true);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request.put("stream_options", { include_usage: true });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endParaRPr sz="1165"/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POST {provider.apiBaseUrl}/chat/completions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bodyToFlux(String.class)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→ 解析 data: JSON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→ choices[0].delta.content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  <a:p>
            <a:pPr algn="l">
              <a:lnSpc>
                <a:spcPct val="102000"/>
              </a:lnSpc>
              <a:buNone/>
              <a:defRPr sz="1165" b="0">
                <a:solidFill>
                  <a:srgbClr val="E8EEF7"/>
                </a:solidFill>
                <a:latin typeface="Consolas"/>
                <a:ea typeface="Consolas"/>
                <a:cs typeface="Consolas"/>
              </a:defRPr>
            </a:pPr>
            <a:r>
              <a:rPr sz="1165" b="0">
                <a:solidFill>
                  <a:srgbClr val="E8EEF7"/>
                </a:solidFill>
                <a:latin typeface="Consolas"/>
                <a:ea typeface="Consolas"/>
                <a:cs typeface="Consolas"/>
              </a:rPr>
              <a:t>  → onChunk.accept(content)</a:t>
            </a:r>
            <a:endParaRPr sz="1165" b="0">
              <a:solidFill>
                <a:srgbClr val="E8EEF7"/>
              </a:solidFill>
              <a:latin typeface="Consolas"/>
              <a:ea typeface="Consolas"/>
              <a:cs typeface="Consolas"/>
            </a:endParaRPr>
          </a:p>
        </p:txBody>
      </p:sp>
      <p:sp>
        <p:nvSpPr>
          <p:cNvPr id="20" name="圆角矩形 19"/>
          <p:cNvSpPr>
            <a:spLocks noGrp="1"/>
          </p:cNvSpPr>
          <p:nvPr/>
        </p:nvSpPr>
        <p:spPr>
          <a:xfrm>
            <a:off x="400050" y="4838700"/>
            <a:ext cx="5391150" cy="914400"/>
          </a:xfrm>
          <a:prstGeom prst="roundRect">
            <a:avLst>
              <a:gd name="adj" fmla="val 12500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71500" y="4972050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Provider 可切换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571500" y="5353050"/>
            <a:ext cx="5048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ModelProviderConfigService 选择当前 LLM；协议保持 OpenAI 风格。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000750" y="4838700"/>
            <a:ext cx="5791200" cy="914400"/>
          </a:xfrm>
          <a:prstGeom prst="roundRect">
            <a:avLst>
              <a:gd name="adj" fmla="val 12500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172200" y="4972050"/>
            <a:ext cx="5448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用量结算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172200" y="5353050"/>
            <a:ext cx="54483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9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先按 prompt + max completion 预留；流结束后按 usage 或估算值结算。</a:t>
            </a:r>
            <a:endParaRPr sz="109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2" name="矩形 21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完成、停止与历史：当前实现的三套状态不能混为一谈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ChatHandler.java:130-185,351-455；input-box.vue:68-147；ConversationController.java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31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00050" y="1428750"/>
            <a:ext cx="3524250" cy="3752850"/>
          </a:xfrm>
          <a:prstGeom prst="roundRect">
            <a:avLst>
              <a:gd name="adj" fmla="val 3243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52450" y="1562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12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990600" y="15430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流式输出状态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571500" y="1943100"/>
            <a:ext cx="318135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responseBuilders[sessionId] 累积文本。每个模型 chunk 包装为 {chunk: ...} 发送。前端把最后一条 assistant 从 pending → loading，并持续追加 content。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133850" y="1428750"/>
            <a:ext cx="3524250" cy="375285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4286250" y="1562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12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4724400" y="1543050"/>
            <a:ext cx="27813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完成判定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305300" y="1943100"/>
            <a:ext cx="318135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后台监控线程先等待 3s，再观察长度；若连续一段时间不再增长，发送 {type: completion, status: finished}，随后把问答与引用写入 Redis。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7867650" y="1428750"/>
            <a:ext cx="3924300" cy="3752850"/>
          </a:xfrm>
          <a:prstGeom prst="roundRect">
            <a:avLst>
              <a:gd name="adj" fmla="val 304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8020050" y="1562100"/>
            <a:ext cx="400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2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2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12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8458200" y="1543050"/>
            <a:ext cx="3181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停止按钮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8039100" y="1943100"/>
            <a:ext cx="3581400" cy="3124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前端先调用 /chat/websocket-token 获取内部 cmdToken，再发送 {type: stop}。后端 stopFlags 只阻止继续向 WS 发送；底层 LLM HTTP 流并未被显式取消。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400050" y="55435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400050" y="5543550"/>
            <a:ext cx="57150" cy="400050"/>
          </a:xfrm>
          <a:prstGeom prst="rect">
            <a:avLst/>
          </a:prstGeom>
          <a:solidFill>
            <a:srgbClr val="D98B18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571500" y="56292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历史：user:&lt;id&gt;:current_conversation → UUID；conversation:&lt;UUID&gt; → 最多 20 条消息，TTL 7 天。</a:t>
            </a:r>
            <a:endParaRPr sz="116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45" name="矩形 44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可点击引用：回答中的“来源#N”如何回到原文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ChatHandler.java:306-348,491-582；chat-message.vue:129-287；DocumentController.java:679-740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32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2219325" y="1962150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8" name="圆角矩形 7"/>
          <p:cNvSpPr>
            <a:spLocks noGrp="1"/>
          </p:cNvSpPr>
          <p:nvPr/>
        </p:nvSpPr>
        <p:spPr>
          <a:xfrm>
            <a:off x="400050" y="1390650"/>
            <a:ext cx="1819275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533400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857250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构造上下文</a:t>
            </a:r>
            <a:endParaRPr sz="117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33400" y="1866900"/>
            <a:ext cx="1552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[1] (file.pdf | 第5页)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文本摘要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4133850" y="1962150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3" name="圆角矩形 12"/>
          <p:cNvSpPr>
            <a:spLocks noGrp="1"/>
          </p:cNvSpPr>
          <p:nvPr/>
        </p:nvSpPr>
        <p:spPr>
          <a:xfrm>
            <a:off x="2314575" y="1390650"/>
            <a:ext cx="1819275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2447925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2771775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模型输出</a:t>
            </a:r>
            <a:endParaRPr sz="117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47925" y="1866900"/>
            <a:ext cx="1552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要求使用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来源#1: file.pdf | 第5页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6048375" y="1962150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18" name="圆角矩形 17"/>
          <p:cNvSpPr>
            <a:spLocks noGrp="1"/>
          </p:cNvSpPr>
          <p:nvPr/>
        </p:nvSpPr>
        <p:spPr>
          <a:xfrm>
            <a:off x="4229100" y="1390650"/>
            <a:ext cx="1819275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4362450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4686300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前端正则识别</a:t>
            </a:r>
            <a:endParaRPr sz="117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4362450" y="1866900"/>
            <a:ext cx="1552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source-file-link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记录 referenceNumber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7962900" y="1962150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3" name="圆角矩形 22"/>
          <p:cNvSpPr>
            <a:spLocks noGrp="1"/>
          </p:cNvSpPr>
          <p:nvPr/>
        </p:nvSpPr>
        <p:spPr>
          <a:xfrm>
            <a:off x="6143625" y="1390650"/>
            <a:ext cx="1819275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276975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6600825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引用详情</a:t>
            </a:r>
            <a:endParaRPr sz="117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276975" y="1866900"/>
            <a:ext cx="1552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95429"/>
          </a:bodyPr>
          <a:lstStyle/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GET documents/reference-detail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sessionId + #N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9877425" y="1962150"/>
            <a:ext cx="95250" cy="38100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28" name="圆角矩形 27"/>
          <p:cNvSpPr>
            <a:spLocks noGrp="1"/>
          </p:cNvSpPr>
          <p:nvPr/>
        </p:nvSpPr>
        <p:spPr>
          <a:xfrm>
            <a:off x="8058150" y="1390650"/>
            <a:ext cx="1819275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8191500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515350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权限再校验</a:t>
            </a:r>
            <a:endParaRPr sz="117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8191500" y="1866900"/>
            <a:ext cx="1552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getAccessibleFiles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禁止越权预览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圆角矩形 31"/>
          <p:cNvSpPr>
            <a:spLocks noGrp="1"/>
          </p:cNvSpPr>
          <p:nvPr/>
        </p:nvSpPr>
        <p:spPr>
          <a:xfrm>
            <a:off x="9972675" y="1390650"/>
            <a:ext cx="1819275" cy="1181100"/>
          </a:xfrm>
          <a:prstGeom prst="roundRect">
            <a:avLst>
              <a:gd name="adj" fmla="val 9677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10106025" y="1504950"/>
            <a:ext cx="285750" cy="2476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05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05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10429875" y="1485900"/>
            <a:ext cx="1228725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17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预览定位</a:t>
            </a:r>
            <a:endParaRPr sz="117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10106025" y="1866900"/>
            <a:ext cx="1552575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PDF 单页 / 文本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5000"/>
              </a:lnSpc>
              <a:buNone/>
              <a:def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0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展示命中块和证据</a:t>
            </a:r>
            <a:endParaRPr sz="10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圆角矩形 35"/>
          <p:cNvSpPr>
            <a:spLocks noGrp="1"/>
          </p:cNvSpPr>
          <p:nvPr/>
        </p:nvSpPr>
        <p:spPr>
          <a:xfrm>
            <a:off x="400050" y="3009900"/>
            <a:ext cx="5391150" cy="2171700"/>
          </a:xfrm>
          <a:prstGeom prst="roundRect">
            <a:avLst>
              <a:gd name="adj" fmla="val 5263"/>
            </a:avLst>
          </a:prstGeom>
          <a:solidFill>
            <a:srgbClr val="EAF7FD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71500" y="3143250"/>
            <a:ext cx="5048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ReferenceInfo 保存的证据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571500" y="3524250"/>
            <a:ext cx="50482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fileMd5、fileName、pageNumber、anchorText、retrievalMode/Label、retrievalQuery、matchedChunkText、evidenceSnippet、score、chunkId。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圆角矩形 38"/>
          <p:cNvSpPr>
            <a:spLocks noGrp="1"/>
          </p:cNvSpPr>
          <p:nvPr/>
        </p:nvSpPr>
        <p:spPr>
          <a:xfrm>
            <a:off x="6019800" y="3009900"/>
            <a:ext cx="5772150" cy="217170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6191250" y="3143250"/>
            <a:ext cx="54292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两种引用映射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6191250" y="3524250"/>
            <a:ext cx="5429250" cy="1543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实时会话：sessionReferenceMappings[sessionId]，连接关闭会清理。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12000"/>
              </a:lnSpc>
              <a:buNone/>
              <a:def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4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历史消息：referenceMappings 随 assistant 消息持久化到 Redis，之后仍可展示与预览。</a:t>
            </a:r>
            <a:endParaRPr sz="124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圆角矩形 41"/>
          <p:cNvSpPr>
            <a:spLocks noGrp="1"/>
          </p:cNvSpPr>
          <p:nvPr/>
        </p:nvSpPr>
        <p:spPr>
          <a:xfrm>
            <a:off x="400050" y="554355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400050" y="5543550"/>
            <a:ext cx="57150" cy="400050"/>
          </a:xfrm>
          <a:prstGeom prst="rect">
            <a:avLst/>
          </a:prstGeom>
          <a:solidFill>
            <a:srgbClr val="D98B18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71500" y="562927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引用不是模型随口生成的文件名：编号先由检索结果建立映射，预览接口还会再次做文件权限校验。</a:t>
            </a:r>
            <a:endParaRPr sz="116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6" name="矩形 65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聊天助手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聊天模块源码索引与调试顺序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建议按 WebSocket 帧顺序逐层打断点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33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400050" y="1371600"/>
            <a:ext cx="11391900" cy="628650"/>
          </a:xfrm>
          <a:prstGeom prst="rect">
            <a:avLst/>
          </a:prstGeom>
          <a:solidFill>
            <a:srgbClr val="0B1F33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495300" y="144780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环节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2190750" y="13716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0" name="矩形 9"/>
          <p:cNvSpPr>
            <a:spLocks noGrp="1"/>
          </p:cNvSpPr>
          <p:nvPr/>
        </p:nvSpPr>
        <p:spPr>
          <a:xfrm>
            <a:off x="2286000" y="14478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文件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5810250" y="13716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905500" y="144780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入口/方法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8153400" y="13716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4" name="矩形 13"/>
          <p:cNvSpPr>
            <a:spLocks noGrp="1"/>
          </p:cNvSpPr>
          <p:nvPr/>
        </p:nvSpPr>
        <p:spPr>
          <a:xfrm>
            <a:off x="8248650" y="144780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观察点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矩形 14"/>
          <p:cNvSpPr>
            <a:spLocks noGrp="1"/>
          </p:cNvSpPr>
          <p:nvPr/>
        </p:nvSpPr>
        <p:spPr>
          <a:xfrm>
            <a:off x="400050" y="200025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495300" y="207645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前端连接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2190750" y="20002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2286000" y="20764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frontend/src/store/modules/chat/index.ts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5810250" y="20002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905500" y="207645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useWebSocket :39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8153400" y="20002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8248650" y="207645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socketUrl、握手、心跳、关闭码、sessionId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矩形 22"/>
          <p:cNvSpPr>
            <a:spLocks noGrp="1"/>
          </p:cNvSpPr>
          <p:nvPr/>
        </p:nvSpPr>
        <p:spPr>
          <a:xfrm>
            <a:off x="400050" y="262890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495300" y="270510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前端消息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2190750" y="26289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6" name="矩形 25"/>
          <p:cNvSpPr>
            <a:spLocks noGrp="1"/>
          </p:cNvSpPr>
          <p:nvPr/>
        </p:nvSpPr>
        <p:spPr>
          <a:xfrm>
            <a:off x="2286000" y="27051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views/chat/modules/input-box.vue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矩形 26"/>
          <p:cNvSpPr>
            <a:spLocks noGrp="1"/>
          </p:cNvSpPr>
          <p:nvPr/>
        </p:nvSpPr>
        <p:spPr>
          <a:xfrm>
            <a:off x="5810250" y="26289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5905500" y="270510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handleSend / watch(wsData)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8153400" y="26289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0" name="矩形 29"/>
          <p:cNvSpPr>
            <a:spLocks noGrp="1"/>
          </p:cNvSpPr>
          <p:nvPr/>
        </p:nvSpPr>
        <p:spPr>
          <a:xfrm>
            <a:off x="8248650" y="270510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pending/loading/finished/error、429 倒计时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矩形 30"/>
          <p:cNvSpPr>
            <a:spLocks noGrp="1"/>
          </p:cNvSpPr>
          <p:nvPr/>
        </p:nvSpPr>
        <p:spPr>
          <a:xfrm>
            <a:off x="400050" y="325755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495300" y="333375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WS 后端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2190750" y="3257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4" name="矩形 33"/>
          <p:cNvSpPr>
            <a:spLocks noGrp="1"/>
          </p:cNvSpPr>
          <p:nvPr/>
        </p:nvSpPr>
        <p:spPr>
          <a:xfrm>
            <a:off x="2286000" y="33337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handler/ChatWebSocketHandler.java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矩形 34"/>
          <p:cNvSpPr>
            <a:spLocks noGrp="1"/>
          </p:cNvSpPr>
          <p:nvPr/>
        </p:nvSpPr>
        <p:spPr>
          <a:xfrm>
            <a:off x="5810250" y="3257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5905500" y="333375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afterConnectionEstablished :48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handleTextMessage :92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7" name="矩形 36"/>
          <p:cNvSpPr>
            <a:spLocks noGrp="1"/>
          </p:cNvSpPr>
          <p:nvPr/>
        </p:nvSpPr>
        <p:spPr>
          <a:xfrm>
            <a:off x="8153400" y="3257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8" name="矩形 37"/>
          <p:cNvSpPr>
            <a:spLocks noGrp="1"/>
          </p:cNvSpPr>
          <p:nvPr/>
        </p:nvSpPr>
        <p:spPr>
          <a:xfrm>
            <a:off x="8248650" y="333375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JWT、ping/pong、stop、普通消息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9" name="矩形 38"/>
          <p:cNvSpPr>
            <a:spLocks noGrp="1"/>
          </p:cNvSpPr>
          <p:nvPr/>
        </p:nvSpPr>
        <p:spPr>
          <a:xfrm>
            <a:off x="400050" y="388620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0" name="矩形 39"/>
          <p:cNvSpPr>
            <a:spLocks noGrp="1"/>
          </p:cNvSpPr>
          <p:nvPr/>
        </p:nvSpPr>
        <p:spPr>
          <a:xfrm>
            <a:off x="495300" y="396240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RAG 编排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1" name="矩形 40"/>
          <p:cNvSpPr>
            <a:spLocks noGrp="1"/>
          </p:cNvSpPr>
          <p:nvPr/>
        </p:nvSpPr>
        <p:spPr>
          <a:xfrm>
            <a:off x="2190750" y="3886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2" name="矩形 41"/>
          <p:cNvSpPr>
            <a:spLocks noGrp="1"/>
          </p:cNvSpPr>
          <p:nvPr/>
        </p:nvSpPr>
        <p:spPr>
          <a:xfrm>
            <a:off x="2286000" y="39624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service/ChatHandler.java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3" name="矩形 42"/>
          <p:cNvSpPr>
            <a:spLocks noGrp="1"/>
          </p:cNvSpPr>
          <p:nvPr/>
        </p:nvSpPr>
        <p:spPr>
          <a:xfrm>
            <a:off x="5810250" y="3886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4" name="矩形 43"/>
          <p:cNvSpPr>
            <a:spLocks noGrp="1"/>
          </p:cNvSpPr>
          <p:nvPr/>
        </p:nvSpPr>
        <p:spPr>
          <a:xfrm>
            <a:off x="5905500" y="396240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processMessage :69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buildContext :306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5" name="矩形 44"/>
          <p:cNvSpPr>
            <a:spLocks noGrp="1"/>
          </p:cNvSpPr>
          <p:nvPr/>
        </p:nvSpPr>
        <p:spPr>
          <a:xfrm>
            <a:off x="8153400" y="3886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6" name="矩形 45"/>
          <p:cNvSpPr>
            <a:spLocks noGrp="1"/>
          </p:cNvSpPr>
          <p:nvPr/>
        </p:nvSpPr>
        <p:spPr>
          <a:xfrm>
            <a:off x="8248650" y="396240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历史、Top5、context、引用映射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7" name="矩形 46"/>
          <p:cNvSpPr>
            <a:spLocks noGrp="1"/>
          </p:cNvSpPr>
          <p:nvPr/>
        </p:nvSpPr>
        <p:spPr>
          <a:xfrm>
            <a:off x="400050" y="451485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8" name="矩形 47"/>
          <p:cNvSpPr>
            <a:spLocks noGrp="1"/>
          </p:cNvSpPr>
          <p:nvPr/>
        </p:nvSpPr>
        <p:spPr>
          <a:xfrm>
            <a:off x="495300" y="459105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模型流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9" name="矩形 48"/>
          <p:cNvSpPr>
            <a:spLocks noGrp="1"/>
          </p:cNvSpPr>
          <p:nvPr/>
        </p:nvSpPr>
        <p:spPr>
          <a:xfrm>
            <a:off x="2190750" y="4514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0" name="矩形 49"/>
          <p:cNvSpPr>
            <a:spLocks noGrp="1"/>
          </p:cNvSpPr>
          <p:nvPr/>
        </p:nvSpPr>
        <p:spPr>
          <a:xfrm>
            <a:off x="2286000" y="459105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service/LlmProviderRouter.java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1" name="矩形 50"/>
          <p:cNvSpPr>
            <a:spLocks noGrp="1"/>
          </p:cNvSpPr>
          <p:nvPr/>
        </p:nvSpPr>
        <p:spPr>
          <a:xfrm>
            <a:off x="5810250" y="4514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2" name="矩形 51"/>
          <p:cNvSpPr>
            <a:spLocks noGrp="1"/>
          </p:cNvSpPr>
          <p:nvPr/>
        </p:nvSpPr>
        <p:spPr>
          <a:xfrm>
            <a:off x="5905500" y="459105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streamResponse :41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processChunk :142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3" name="矩形 52"/>
          <p:cNvSpPr>
            <a:spLocks noGrp="1"/>
          </p:cNvSpPr>
          <p:nvPr/>
        </p:nvSpPr>
        <p:spPr>
          <a:xfrm>
            <a:off x="8153400" y="4514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4" name="矩形 53"/>
          <p:cNvSpPr>
            <a:spLocks noGrp="1"/>
          </p:cNvSpPr>
          <p:nvPr/>
        </p:nvSpPr>
        <p:spPr>
          <a:xfrm>
            <a:off x="8248650" y="459105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Provider、messages、SSE payload、usage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5" name="矩形 54"/>
          <p:cNvSpPr>
            <a:spLocks noGrp="1"/>
          </p:cNvSpPr>
          <p:nvPr/>
        </p:nvSpPr>
        <p:spPr>
          <a:xfrm>
            <a:off x="400050" y="514350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56" name="矩形 55"/>
          <p:cNvSpPr>
            <a:spLocks noGrp="1"/>
          </p:cNvSpPr>
          <p:nvPr/>
        </p:nvSpPr>
        <p:spPr>
          <a:xfrm>
            <a:off x="495300" y="5219700"/>
            <a:ext cx="16002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引用预览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7" name="矩形 56"/>
          <p:cNvSpPr>
            <a:spLocks noGrp="1"/>
          </p:cNvSpPr>
          <p:nvPr/>
        </p:nvSpPr>
        <p:spPr>
          <a:xfrm>
            <a:off x="2190750" y="5143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8" name="矩形 57"/>
          <p:cNvSpPr>
            <a:spLocks noGrp="1"/>
          </p:cNvSpPr>
          <p:nvPr/>
        </p:nvSpPr>
        <p:spPr>
          <a:xfrm>
            <a:off x="2286000" y="5219700"/>
            <a:ext cx="3429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controller/DocumentController.java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chat-message.vue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9" name="矩形 58"/>
          <p:cNvSpPr>
            <a:spLocks noGrp="1"/>
          </p:cNvSpPr>
          <p:nvPr/>
        </p:nvSpPr>
        <p:spPr>
          <a:xfrm>
            <a:off x="5810250" y="5143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0" name="矩形 59"/>
          <p:cNvSpPr>
            <a:spLocks noGrp="1"/>
          </p:cNvSpPr>
          <p:nvPr/>
        </p:nvSpPr>
        <p:spPr>
          <a:xfrm>
            <a:off x="5905500" y="5219700"/>
            <a:ext cx="21526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reference-detail :679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handleSourceFileClick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1" name="矩形 60"/>
          <p:cNvSpPr>
            <a:spLocks noGrp="1"/>
          </p:cNvSpPr>
          <p:nvPr/>
        </p:nvSpPr>
        <p:spPr>
          <a:xfrm>
            <a:off x="8153400" y="5143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2" name="矩形 61"/>
          <p:cNvSpPr>
            <a:spLocks noGrp="1"/>
          </p:cNvSpPr>
          <p:nvPr/>
        </p:nvSpPr>
        <p:spPr>
          <a:xfrm>
            <a:off x="8248650" y="5219700"/>
            <a:ext cx="34480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引用编号、文件权限、页码与 evidence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3" name="圆角矩形 62"/>
          <p:cNvSpPr>
            <a:spLocks noGrp="1"/>
          </p:cNvSpPr>
          <p:nvPr/>
        </p:nvSpPr>
        <p:spPr>
          <a:xfrm>
            <a:off x="400050" y="58293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400050" y="5829300"/>
            <a:ext cx="57150" cy="400050"/>
          </a:xfrm>
          <a:prstGeom prst="rect">
            <a:avLst/>
          </a:prstGeom>
          <a:solidFill>
            <a:srgbClr val="D98B18"/>
          </a:solidFill>
          <a:ln w="0">
            <a:noFill/>
            <a:prstDash val="solid"/>
          </a:ln>
        </p:spPr>
      </p:sp>
      <p:sp>
        <p:nvSpPr>
          <p:cNvPr id="65" name="矩形 64"/>
          <p:cNvSpPr>
            <a:spLocks noGrp="1"/>
          </p:cNvSpPr>
          <p:nvPr/>
        </p:nvSpPr>
        <p:spPr>
          <a:xfrm>
            <a:off x="571500" y="59150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WS 调试最重要的证据是 Frames：connection → chunk... → completion / 429 / error / stop。</a:t>
            </a:r>
            <a:endParaRPr sz="116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8" name="矩形 37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端到端链路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跨模块复盘：上传一份 PDF，再问一个问题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400050" y="6429375"/>
            <a:ext cx="10334625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865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这是整套系统最重要的一条可演示链路</a:t>
            </a:r>
            <a:endParaRPr sz="865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34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圆角矩形 6"/>
          <p:cNvSpPr>
            <a:spLocks noGrp="1"/>
          </p:cNvSpPr>
          <p:nvPr/>
        </p:nvSpPr>
        <p:spPr>
          <a:xfrm>
            <a:off x="400050" y="14097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8" name="矩形 7"/>
          <p:cNvSpPr>
            <a:spLocks noGrp="1"/>
          </p:cNvSpPr>
          <p:nvPr/>
        </p:nvSpPr>
        <p:spPr>
          <a:xfrm>
            <a:off x="571500" y="16002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1</a:t>
            </a:r>
            <a:endParaRPr sz="1800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143000" y="15430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登录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2647950" y="15525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获得带 userId/orgTags 的 JWT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圆角矩形 10"/>
          <p:cNvSpPr>
            <a:spLocks noGrp="1"/>
          </p:cNvSpPr>
          <p:nvPr/>
        </p:nvSpPr>
        <p:spPr>
          <a:xfrm>
            <a:off x="400050" y="24765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571500" y="26670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2</a:t>
            </a:r>
            <a:endParaRPr sz="18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143000" y="26098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2647950" y="26193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5MB 分片 → Redis/MinIO/MySQL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5" name="圆角矩形 14"/>
          <p:cNvSpPr>
            <a:spLocks noGrp="1"/>
          </p:cNvSpPr>
          <p:nvPr/>
        </p:nvSpPr>
        <p:spPr>
          <a:xfrm>
            <a:off x="400050" y="35433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6" name="矩形 15"/>
          <p:cNvSpPr>
            <a:spLocks noGrp="1"/>
          </p:cNvSpPr>
          <p:nvPr/>
        </p:nvSpPr>
        <p:spPr>
          <a:xfrm>
            <a:off x="571500" y="37338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3</a:t>
            </a:r>
            <a:endParaRPr sz="1800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143000" y="36766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异步知识化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2647950" y="36861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Kafka → PDFBox → chunk → Embedding → ES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圆角矩形 18"/>
          <p:cNvSpPr>
            <a:spLocks noGrp="1"/>
          </p:cNvSpPr>
          <p:nvPr/>
        </p:nvSpPr>
        <p:spPr>
          <a:xfrm>
            <a:off x="400050" y="46101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0" name="矩形 19"/>
          <p:cNvSpPr>
            <a:spLocks noGrp="1"/>
          </p:cNvSpPr>
          <p:nvPr/>
        </p:nvSpPr>
        <p:spPr>
          <a:xfrm>
            <a:off x="571500" y="48006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4</a:t>
            </a:r>
            <a:endParaRPr sz="180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143000" y="47434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提问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2647950" y="47529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WebSocket 携 JWT，ChatHandler 取最近历史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3" name="圆角矩形 22"/>
          <p:cNvSpPr>
            <a:spLocks noGrp="1"/>
          </p:cNvSpPr>
          <p:nvPr/>
        </p:nvSpPr>
        <p:spPr>
          <a:xfrm>
            <a:off x="6267450" y="14097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4" name="矩形 23"/>
          <p:cNvSpPr>
            <a:spLocks noGrp="1"/>
          </p:cNvSpPr>
          <p:nvPr/>
        </p:nvSpPr>
        <p:spPr>
          <a:xfrm>
            <a:off x="6438900" y="16002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5</a:t>
            </a:r>
            <a:endParaRPr sz="180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010400" y="15430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检索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8515350" y="15525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query vector → KNN + AND + BM25 + 权限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7" name="圆角矩形 26"/>
          <p:cNvSpPr>
            <a:spLocks noGrp="1"/>
          </p:cNvSpPr>
          <p:nvPr/>
        </p:nvSpPr>
        <p:spPr>
          <a:xfrm>
            <a:off x="6267450" y="24765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8" name="矩形 27"/>
          <p:cNvSpPr>
            <a:spLocks noGrp="1"/>
          </p:cNvSpPr>
          <p:nvPr/>
        </p:nvSpPr>
        <p:spPr>
          <a:xfrm>
            <a:off x="6438900" y="26670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6</a:t>
            </a:r>
            <a:endParaRPr sz="1800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010400" y="26098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回答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8515350" y="26193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Prompt 引用 Top5，LLM chunk 流式回传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1" name="圆角矩形 30"/>
          <p:cNvSpPr>
            <a:spLocks noGrp="1"/>
          </p:cNvSpPr>
          <p:nvPr/>
        </p:nvSpPr>
        <p:spPr>
          <a:xfrm>
            <a:off x="6267450" y="3543300"/>
            <a:ext cx="5524500" cy="876300"/>
          </a:xfrm>
          <a:prstGeom prst="roundRect">
            <a:avLst>
              <a:gd name="adj" fmla="val 13043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2" name="矩形 31"/>
          <p:cNvSpPr>
            <a:spLocks noGrp="1"/>
          </p:cNvSpPr>
          <p:nvPr/>
        </p:nvSpPr>
        <p:spPr>
          <a:xfrm>
            <a:off x="6438900" y="3733800"/>
            <a:ext cx="40005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ctr">
              <a:lnSpc>
                <a:spcPct val="108000"/>
              </a:lnSpc>
              <a:buNone/>
              <a:defRPr sz="18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7</a:t>
            </a:r>
            <a:endParaRPr sz="1800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010400" y="3676650"/>
            <a:ext cx="14478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追溯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8515350" y="3686175"/>
            <a:ext cx="30861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20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点击来源#N → 权限复核 → 第 N 页预览</a:t>
            </a:r>
            <a:endParaRPr sz="120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5" name="圆角矩形 34"/>
          <p:cNvSpPr>
            <a:spLocks noGrp="1"/>
          </p:cNvSpPr>
          <p:nvPr/>
        </p:nvSpPr>
        <p:spPr>
          <a:xfrm>
            <a:off x="400050" y="57150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400050" y="5715000"/>
            <a:ext cx="57150" cy="400050"/>
          </a:xfrm>
          <a:prstGeom prst="rect">
            <a:avLst/>
          </a:prstGeom>
          <a:solidFill>
            <a:srgbClr val="D84B4B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571500" y="58007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如果最终回答没有引用，沿反方向排查：Prompt 是否含证据 ← SearchResult 是否有 Top5 ← ES 是否已有该文件块。</a:t>
            </a:r>
            <a:endParaRPr sz="116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7" name="矩形 36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学习计划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建议的 7 天学习路线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35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圆角矩形 5"/>
          <p:cNvSpPr>
            <a:spLocks noGrp="1"/>
          </p:cNvSpPr>
          <p:nvPr/>
        </p:nvSpPr>
        <p:spPr>
          <a:xfrm>
            <a:off x="400050" y="13525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571500" y="14859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DAY 1</a:t>
            </a:r>
            <a:endParaRPr sz="101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1466850" y="14573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跑起来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矩形 8"/>
          <p:cNvSpPr>
            <a:spLocks noGrp="1"/>
          </p:cNvSpPr>
          <p:nvPr/>
        </p:nvSpPr>
        <p:spPr>
          <a:xfrm>
            <a:off x="1466850" y="1781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准备 MySQL/Redis/MinIO/Kafka/ES；登录前后端；看 Network。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圆角矩形 9"/>
          <p:cNvSpPr>
            <a:spLocks noGrp="1"/>
          </p:cNvSpPr>
          <p:nvPr/>
        </p:nvSpPr>
        <p:spPr>
          <a:xfrm>
            <a:off x="400050" y="24193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571500" y="25527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DAY 2</a:t>
            </a:r>
            <a:endParaRPr sz="101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1466850" y="25241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用户与安全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466850" y="28479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注册/登录；解码 JWT；走一遍 JwtFilter 与 OrgTagFilter。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圆角矩形 13"/>
          <p:cNvSpPr>
            <a:spLocks noGrp="1"/>
          </p:cNvSpPr>
          <p:nvPr/>
        </p:nvSpPr>
        <p:spPr>
          <a:xfrm>
            <a:off x="400050" y="34861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571500" y="36195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DAY 3</a:t>
            </a:r>
            <a:endParaRPr sz="101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466850" y="35909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上传同步链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1466850" y="39147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上传小文件；核对 Redis 位图、MinIO chunk、file_upload。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圆角矩形 17"/>
          <p:cNvSpPr>
            <a:spLocks noGrp="1"/>
          </p:cNvSpPr>
          <p:nvPr/>
        </p:nvSpPr>
        <p:spPr>
          <a:xfrm>
            <a:off x="400050" y="45529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571500" y="46863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DAY 4</a:t>
            </a:r>
            <a:endParaRPr sz="101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1466850" y="46577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解析异步链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1" name="矩形 20"/>
          <p:cNvSpPr>
            <a:spLocks noGrp="1"/>
          </p:cNvSpPr>
          <p:nvPr/>
        </p:nvSpPr>
        <p:spPr>
          <a:xfrm>
            <a:off x="1466850" y="49815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看 Kafka 消费；断点 ParseService；核对 document_vectors 与页码。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圆角矩形 21"/>
          <p:cNvSpPr>
            <a:spLocks noGrp="1"/>
          </p:cNvSpPr>
          <p:nvPr/>
        </p:nvSpPr>
        <p:spPr>
          <a:xfrm>
            <a:off x="6191250" y="13525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6362700" y="14859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DAY 5</a:t>
            </a:r>
            <a:endParaRPr sz="101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7258050" y="14573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 fontScale="79587"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Embedding 与检索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5" name="矩形 24"/>
          <p:cNvSpPr>
            <a:spLocks noGrp="1"/>
          </p:cNvSpPr>
          <p:nvPr/>
        </p:nvSpPr>
        <p:spPr>
          <a:xfrm>
            <a:off x="7258050" y="17811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核对 ES mapping；手工请求 hybrid；比较 HYBRID/TEXT_ONLY。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圆角矩形 25"/>
          <p:cNvSpPr>
            <a:spLocks noGrp="1"/>
          </p:cNvSpPr>
          <p:nvPr/>
        </p:nvSpPr>
        <p:spPr>
          <a:xfrm>
            <a:off x="6191250" y="24193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362700" y="25527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DAY 6</a:t>
            </a:r>
            <a:endParaRPr sz="101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7258050" y="25241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聊天与引用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9" name="矩形 28"/>
          <p:cNvSpPr>
            <a:spLocks noGrp="1"/>
          </p:cNvSpPr>
          <p:nvPr/>
        </p:nvSpPr>
        <p:spPr>
          <a:xfrm>
            <a:off x="7258050" y="28479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看 WS Frames；断点 ChatHandler；点击来源预览。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圆角矩形 29"/>
          <p:cNvSpPr>
            <a:spLocks noGrp="1"/>
          </p:cNvSpPr>
          <p:nvPr/>
        </p:nvSpPr>
        <p:spPr>
          <a:xfrm>
            <a:off x="6191250" y="3486150"/>
            <a:ext cx="5600700" cy="895350"/>
          </a:xfrm>
          <a:prstGeom prst="roundRect">
            <a:avLst>
              <a:gd name="adj" fmla="val 12766"/>
            </a:avLst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6362700" y="3619500"/>
            <a:ext cx="8191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01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01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DAY 7</a:t>
            </a:r>
            <a:endParaRPr sz="101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7258050" y="3590925"/>
            <a:ext cx="1371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50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权限与故障</a:t>
            </a:r>
            <a:endParaRPr sz="150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3" name="矩形 32"/>
          <p:cNvSpPr>
            <a:spLocks noGrp="1"/>
          </p:cNvSpPr>
          <p:nvPr/>
        </p:nvSpPr>
        <p:spPr>
          <a:xfrm>
            <a:off x="7258050" y="3914775"/>
            <a:ext cx="43053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defRPr>
            </a:pPr>
            <a:r>
              <a:rPr sz="1110" b="0">
                <a:solidFill>
                  <a:srgbClr val="5B6574"/>
                </a:solidFill>
                <a:latin typeface="微软雅黑"/>
                <a:ea typeface="微软雅黑"/>
                <a:cs typeface="微软雅黑"/>
              </a:rPr>
              <a:t>两用户/两组织测试；模拟 Kafka/Embedding/ES 失败并写排错记录。</a:t>
            </a:r>
            <a:endParaRPr sz="1110" b="0">
              <a:solidFill>
                <a:srgbClr val="5B6574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圆角矩形 33"/>
          <p:cNvSpPr>
            <a:spLocks noGrp="1"/>
          </p:cNvSpPr>
          <p:nvPr/>
        </p:nvSpPr>
        <p:spPr>
          <a:xfrm>
            <a:off x="400050" y="56769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400050" y="5676900"/>
            <a:ext cx="57150" cy="400050"/>
          </a:xfrm>
          <a:prstGeom prst="rect">
            <a:avLst/>
          </a:prstGeom>
          <a:solidFill>
            <a:srgbClr val="1689C8"/>
          </a:solidFill>
          <a:ln w="0">
            <a:noFill/>
            <a:prstDash val="solid"/>
          </a:ln>
        </p:spPr>
      </p:sp>
      <p:sp>
        <p:nvSpPr>
          <p:cNvPr id="36" name="矩形 35"/>
          <p:cNvSpPr>
            <a:spLocks noGrp="1"/>
          </p:cNvSpPr>
          <p:nvPr/>
        </p:nvSpPr>
        <p:spPr>
          <a:xfrm>
            <a:off x="571500" y="57626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每天都保留一份“输入 → 关键变量 → 存储变化 → 输出”的观察笔记；一周后你会拥有自己的运行时地图。</a:t>
            </a:r>
            <a:endParaRPr sz="116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65" name="矩形 64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调试清单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最有价值的断点与可观测证据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36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400050" y="1371600"/>
            <a:ext cx="11391900" cy="628650"/>
          </a:xfrm>
          <a:prstGeom prst="rect">
            <a:avLst/>
          </a:prstGeom>
          <a:solidFill>
            <a:srgbClr val="0B1F33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7" name="矩形 6"/>
          <p:cNvSpPr>
            <a:spLocks noGrp="1"/>
          </p:cNvSpPr>
          <p:nvPr/>
        </p:nvSpPr>
        <p:spPr>
          <a:xfrm>
            <a:off x="495300" y="144780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场景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2400300" y="13716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2495550" y="144780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首选断点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6305550" y="13716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1" name="矩形 10"/>
          <p:cNvSpPr>
            <a:spLocks noGrp="1"/>
          </p:cNvSpPr>
          <p:nvPr/>
        </p:nvSpPr>
        <p:spPr>
          <a:xfrm>
            <a:off x="6400800" y="144780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外部证据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2" name="矩形 11"/>
          <p:cNvSpPr>
            <a:spLocks noGrp="1"/>
          </p:cNvSpPr>
          <p:nvPr/>
        </p:nvSpPr>
        <p:spPr>
          <a:xfrm>
            <a:off x="9163050" y="13716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3" name="矩形 12"/>
          <p:cNvSpPr>
            <a:spLocks noGrp="1"/>
          </p:cNvSpPr>
          <p:nvPr/>
        </p:nvSpPr>
        <p:spPr>
          <a:xfrm>
            <a:off x="9258300" y="144780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常见结论</a:t>
            </a:r>
            <a:endParaRPr sz="1165" b="1">
              <a:solidFill>
                <a:srgbClr val="FFFF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400050" y="200025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495300" y="20764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401 / 403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2400300" y="20002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7" name="矩形 16"/>
          <p:cNvSpPr>
            <a:spLocks noGrp="1"/>
          </p:cNvSpPr>
          <p:nvPr/>
        </p:nvSpPr>
        <p:spPr>
          <a:xfrm>
            <a:off x="2495550" y="207645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JwtAuthenticationFilter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OrgTagAuthorizationFilter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8" name="矩形 17"/>
          <p:cNvSpPr>
            <a:spLocks noGrp="1"/>
          </p:cNvSpPr>
          <p:nvPr/>
        </p:nvSpPr>
        <p:spPr>
          <a:xfrm>
            <a:off x="6305550" y="20002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9" name="矩形 18"/>
          <p:cNvSpPr>
            <a:spLocks noGrp="1"/>
          </p:cNvSpPr>
          <p:nvPr/>
        </p:nvSpPr>
        <p:spPr>
          <a:xfrm>
            <a:off x="6400800" y="207645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Authorization、JWT claims、request attrs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9163050" y="20002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1" name="矩形 20"/>
          <p:cNvSpPr>
            <a:spLocks noGrp="1"/>
          </p:cNvSpPr>
          <p:nvPr/>
        </p:nvSpPr>
        <p:spPr>
          <a:xfrm>
            <a:off x="9258300" y="207645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Token 失效 / 角色不符 / 标签未扩展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2" name="矩形 21"/>
          <p:cNvSpPr>
            <a:spLocks noGrp="1"/>
          </p:cNvSpPr>
          <p:nvPr/>
        </p:nvSpPr>
        <p:spPr>
          <a:xfrm>
            <a:off x="400050" y="262890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495300" y="270510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分片卡住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4" name="矩形 23"/>
          <p:cNvSpPr>
            <a:spLocks noGrp="1"/>
          </p:cNvSpPr>
          <p:nvPr/>
        </p:nvSpPr>
        <p:spPr>
          <a:xfrm>
            <a:off x="2400300" y="26289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5" name="矩形 24"/>
          <p:cNvSpPr>
            <a:spLocks noGrp="1"/>
          </p:cNvSpPr>
          <p:nvPr/>
        </p:nvSpPr>
        <p:spPr>
          <a:xfrm>
            <a:off x="2495550" y="270510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UploadService.uploadChunk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6" name="矩形 25"/>
          <p:cNvSpPr>
            <a:spLocks noGrp="1"/>
          </p:cNvSpPr>
          <p:nvPr/>
        </p:nvSpPr>
        <p:spPr>
          <a:xfrm>
            <a:off x="6305550" y="26289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7" name="矩形 26"/>
          <p:cNvSpPr>
            <a:spLocks noGrp="1"/>
          </p:cNvSpPr>
          <p:nvPr/>
        </p:nvSpPr>
        <p:spPr>
          <a:xfrm>
            <a:off x="6400800" y="270510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Redis GETBIT、MinIO chunk、chunk_info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8" name="矩形 27"/>
          <p:cNvSpPr>
            <a:spLocks noGrp="1"/>
          </p:cNvSpPr>
          <p:nvPr/>
        </p:nvSpPr>
        <p:spPr>
          <a:xfrm>
            <a:off x="9163050" y="26289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9" name="矩形 28"/>
          <p:cNvSpPr>
            <a:spLocks noGrp="1"/>
          </p:cNvSpPr>
          <p:nvPr/>
        </p:nvSpPr>
        <p:spPr>
          <a:xfrm>
            <a:off x="9258300" y="270510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位图与对象状态不一致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0" name="矩形 29"/>
          <p:cNvSpPr>
            <a:spLocks noGrp="1"/>
          </p:cNvSpPr>
          <p:nvPr/>
        </p:nvSpPr>
        <p:spPr>
          <a:xfrm>
            <a:off x="400050" y="325755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1" name="矩形 30"/>
          <p:cNvSpPr>
            <a:spLocks noGrp="1"/>
          </p:cNvSpPr>
          <p:nvPr/>
        </p:nvSpPr>
        <p:spPr>
          <a:xfrm>
            <a:off x="495300" y="33337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合并冲突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2" name="矩形 31"/>
          <p:cNvSpPr>
            <a:spLocks noGrp="1"/>
          </p:cNvSpPr>
          <p:nvPr/>
        </p:nvSpPr>
        <p:spPr>
          <a:xfrm>
            <a:off x="2400300" y="3257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3" name="矩形 32"/>
          <p:cNvSpPr>
            <a:spLocks noGrp="1"/>
          </p:cNvSpPr>
          <p:nvPr/>
        </p:nvSpPr>
        <p:spPr>
          <a:xfrm>
            <a:off x="2495550" y="333375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UploadController.mergeFile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4" name="矩形 33"/>
          <p:cNvSpPr>
            <a:spLocks noGrp="1"/>
          </p:cNvSpPr>
          <p:nvPr/>
        </p:nvSpPr>
        <p:spPr>
          <a:xfrm>
            <a:off x="6305550" y="3257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5" name="矩形 34"/>
          <p:cNvSpPr>
            <a:spLocks noGrp="1"/>
          </p:cNvSpPr>
          <p:nvPr/>
        </p:nvSpPr>
        <p:spPr>
          <a:xfrm>
            <a:off x="6400800" y="333375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file_upload.status、CAS 行数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6" name="矩形 35"/>
          <p:cNvSpPr>
            <a:spLocks noGrp="1"/>
          </p:cNvSpPr>
          <p:nvPr/>
        </p:nvSpPr>
        <p:spPr>
          <a:xfrm>
            <a:off x="9163050" y="32575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37" name="矩形 36"/>
          <p:cNvSpPr>
            <a:spLocks noGrp="1"/>
          </p:cNvSpPr>
          <p:nvPr/>
        </p:nvSpPr>
        <p:spPr>
          <a:xfrm>
            <a:off x="9258300" y="333375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重复 merge 或状态未回滚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8" name="矩形 37"/>
          <p:cNvSpPr>
            <a:spLocks noGrp="1"/>
          </p:cNvSpPr>
          <p:nvPr/>
        </p:nvSpPr>
        <p:spPr>
          <a:xfrm>
            <a:off x="400050" y="388620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39" name="矩形 38"/>
          <p:cNvSpPr>
            <a:spLocks noGrp="1"/>
          </p:cNvSpPr>
          <p:nvPr/>
        </p:nvSpPr>
        <p:spPr>
          <a:xfrm>
            <a:off x="495300" y="396240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上传后搜不到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0" name="矩形 39"/>
          <p:cNvSpPr>
            <a:spLocks noGrp="1"/>
          </p:cNvSpPr>
          <p:nvPr/>
        </p:nvSpPr>
        <p:spPr>
          <a:xfrm>
            <a:off x="2400300" y="3886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1" name="矩形 40"/>
          <p:cNvSpPr>
            <a:spLocks noGrp="1"/>
          </p:cNvSpPr>
          <p:nvPr/>
        </p:nvSpPr>
        <p:spPr>
          <a:xfrm>
            <a:off x="2495550" y="396240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FileProcessingConsumer.consume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2" name="矩形 41"/>
          <p:cNvSpPr>
            <a:spLocks noGrp="1"/>
          </p:cNvSpPr>
          <p:nvPr/>
        </p:nvSpPr>
        <p:spPr>
          <a:xfrm>
            <a:off x="6305550" y="3886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3" name="矩形 42"/>
          <p:cNvSpPr>
            <a:spLocks noGrp="1"/>
          </p:cNvSpPr>
          <p:nvPr/>
        </p:nvSpPr>
        <p:spPr>
          <a:xfrm>
            <a:off x="6400800" y="396240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Kafka offset/DLT、document_vectors、ES bulk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4" name="矩形 43"/>
          <p:cNvSpPr>
            <a:spLocks noGrp="1"/>
          </p:cNvSpPr>
          <p:nvPr/>
        </p:nvSpPr>
        <p:spPr>
          <a:xfrm>
            <a:off x="9163050" y="38862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5" name="矩形 44"/>
          <p:cNvSpPr>
            <a:spLocks noGrp="1"/>
          </p:cNvSpPr>
          <p:nvPr/>
        </p:nvSpPr>
        <p:spPr>
          <a:xfrm>
            <a:off x="9258300" y="396240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异步链某一步失败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6" name="矩形 45"/>
          <p:cNvSpPr>
            <a:spLocks noGrp="1"/>
          </p:cNvSpPr>
          <p:nvPr/>
        </p:nvSpPr>
        <p:spPr>
          <a:xfrm>
            <a:off x="400050" y="4514850"/>
            <a:ext cx="11391900" cy="628650"/>
          </a:xfrm>
          <a:prstGeom prst="rect">
            <a:avLst/>
          </a:prstGeom>
          <a:solidFill>
            <a:srgbClr val="F3F5F7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47" name="矩形 46"/>
          <p:cNvSpPr>
            <a:spLocks noGrp="1"/>
          </p:cNvSpPr>
          <p:nvPr/>
        </p:nvSpPr>
        <p:spPr>
          <a:xfrm>
            <a:off x="495300" y="459105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搜索不准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48" name="矩形 47"/>
          <p:cNvSpPr>
            <a:spLocks noGrp="1"/>
          </p:cNvSpPr>
          <p:nvPr/>
        </p:nvSpPr>
        <p:spPr>
          <a:xfrm>
            <a:off x="2400300" y="4514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49" name="矩形 48"/>
          <p:cNvSpPr>
            <a:spLocks noGrp="1"/>
          </p:cNvSpPr>
          <p:nvPr/>
        </p:nvSpPr>
        <p:spPr>
          <a:xfrm>
            <a:off x="2495550" y="459105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HybridSearchService.searchWithPermission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0" name="矩形 49"/>
          <p:cNvSpPr>
            <a:spLocks noGrp="1"/>
          </p:cNvSpPr>
          <p:nvPr/>
        </p:nvSpPr>
        <p:spPr>
          <a:xfrm>
            <a:off x="6305550" y="4514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1" name="矩形 50"/>
          <p:cNvSpPr>
            <a:spLocks noGrp="1"/>
          </p:cNvSpPr>
          <p:nvPr/>
        </p:nvSpPr>
        <p:spPr>
          <a:xfrm>
            <a:off x="6400800" y="459105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query vector、recallK、_score、mode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2" name="矩形 51"/>
          <p:cNvSpPr>
            <a:spLocks noGrp="1"/>
          </p:cNvSpPr>
          <p:nvPr/>
        </p:nvSpPr>
        <p:spPr>
          <a:xfrm>
            <a:off x="9163050" y="451485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3" name="矩形 52"/>
          <p:cNvSpPr>
            <a:spLocks noGrp="1"/>
          </p:cNvSpPr>
          <p:nvPr/>
        </p:nvSpPr>
        <p:spPr>
          <a:xfrm>
            <a:off x="9258300" y="459105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分块/查询词/重排参数不合适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4" name="矩形 53"/>
          <p:cNvSpPr>
            <a:spLocks noGrp="1"/>
          </p:cNvSpPr>
          <p:nvPr/>
        </p:nvSpPr>
        <p:spPr>
          <a:xfrm>
            <a:off x="400050" y="5143500"/>
            <a:ext cx="11391900" cy="628650"/>
          </a:xfrm>
          <a:prstGeom prst="rect">
            <a:avLst/>
          </a:prstGeom>
          <a:solidFill>
            <a:srgbClr val="FFFFFF"/>
          </a:solidFill>
          <a:ln w="9525">
            <a:solidFill>
              <a:srgbClr val="D7DDE5"/>
            </a:solidFill>
            <a:prstDash val="solid"/>
          </a:ln>
        </p:spPr>
      </p:sp>
      <p:sp>
        <p:nvSpPr>
          <p:cNvPr id="55" name="矩形 54"/>
          <p:cNvSpPr>
            <a:spLocks noGrp="1"/>
          </p:cNvSpPr>
          <p:nvPr/>
        </p:nvSpPr>
        <p:spPr>
          <a:xfrm>
            <a:off x="495300" y="5219700"/>
            <a:ext cx="1809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聊天无响应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6" name="矩形 55"/>
          <p:cNvSpPr>
            <a:spLocks noGrp="1"/>
          </p:cNvSpPr>
          <p:nvPr/>
        </p:nvSpPr>
        <p:spPr>
          <a:xfrm>
            <a:off x="2400300" y="5143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7" name="矩形 56"/>
          <p:cNvSpPr>
            <a:spLocks noGrp="1"/>
          </p:cNvSpPr>
          <p:nvPr/>
        </p:nvSpPr>
        <p:spPr>
          <a:xfrm>
            <a:off x="2495550" y="5219700"/>
            <a:ext cx="371475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ChatWebSocketHandler / LlmProviderRouter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58" name="矩形 57"/>
          <p:cNvSpPr>
            <a:spLocks noGrp="1"/>
          </p:cNvSpPr>
          <p:nvPr/>
        </p:nvSpPr>
        <p:spPr>
          <a:xfrm>
            <a:off x="6305550" y="5143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9" name="矩形 58"/>
          <p:cNvSpPr>
            <a:spLocks noGrp="1"/>
          </p:cNvSpPr>
          <p:nvPr/>
        </p:nvSpPr>
        <p:spPr>
          <a:xfrm>
            <a:off x="6400800" y="5219700"/>
            <a:ext cx="26670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WS Frames、Provider SSE、completion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0" name="矩形 59"/>
          <p:cNvSpPr>
            <a:spLocks noGrp="1"/>
          </p:cNvSpPr>
          <p:nvPr/>
        </p:nvSpPr>
        <p:spPr>
          <a:xfrm>
            <a:off x="9163050" y="5143500"/>
            <a:ext cx="9525" cy="628650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61" name="矩形 60"/>
          <p:cNvSpPr>
            <a:spLocks noGrp="1"/>
          </p:cNvSpPr>
          <p:nvPr/>
        </p:nvSpPr>
        <p:spPr>
          <a:xfrm>
            <a:off x="9258300" y="5219700"/>
            <a:ext cx="2438400" cy="476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2000"/>
              </a:lnSpc>
              <a:buNone/>
              <a:def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990" b="0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鉴权、限流、模型流或完成判定问题</a:t>
            </a:r>
            <a:endParaRPr sz="990" b="0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2" name="圆角矩形 61"/>
          <p:cNvSpPr>
            <a:spLocks noGrp="1"/>
          </p:cNvSpPr>
          <p:nvPr/>
        </p:nvSpPr>
        <p:spPr>
          <a:xfrm>
            <a:off x="400050" y="58293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63" name="矩形 62"/>
          <p:cNvSpPr>
            <a:spLocks noGrp="1"/>
          </p:cNvSpPr>
          <p:nvPr/>
        </p:nvSpPr>
        <p:spPr>
          <a:xfrm>
            <a:off x="400050" y="5829300"/>
            <a:ext cx="57150" cy="400050"/>
          </a:xfrm>
          <a:prstGeom prst="rect">
            <a:avLst/>
          </a:prstGeom>
          <a:solidFill>
            <a:srgbClr val="D84B4B"/>
          </a:solidFill>
          <a:ln w="0">
            <a:noFill/>
            <a:prstDash val="solid"/>
          </a:ln>
        </p:spPr>
      </p:sp>
      <p:sp>
        <p:nvSpPr>
          <p:cNvPr id="64" name="矩形 63"/>
          <p:cNvSpPr>
            <a:spLocks noGrp="1"/>
          </p:cNvSpPr>
          <p:nvPr/>
        </p:nvSpPr>
        <p:spPr>
          <a:xfrm>
            <a:off x="571500" y="59150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不要只看一条应用日志：每个模块至少关联一种外部证据（Redis/MinIO/Kafka/ES/WS Frames）。</a:t>
            </a:r>
            <a:endParaRPr sz="116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4" name="矩形 23"/>
          <p:cNvSpPr>
            <a:spLocks noGrp="1"/>
          </p:cNvSpPr>
          <p:nvPr/>
        </p:nvSpPr>
        <p:spPr>
          <a:xfrm>
            <a:off x="400050" y="266700"/>
            <a:ext cx="2476500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结论</a:t>
            </a:r>
            <a:endParaRPr sz="900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" name="矩形 1"/>
          <p:cNvSpPr>
            <a:spLocks noGrp="1"/>
          </p:cNvSpPr>
          <p:nvPr/>
        </p:nvSpPr>
        <p:spPr>
          <a:xfrm>
            <a:off x="400050" y="514350"/>
            <a:ext cx="11049000" cy="590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2850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你现在应该能用 5 句话描述 PaiSmart</a:t>
            </a:r>
            <a:endParaRPr sz="2850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3" name="矩形 2"/>
          <p:cNvSpPr>
            <a:spLocks noGrp="1"/>
          </p:cNvSpPr>
          <p:nvPr/>
        </p:nvSpPr>
        <p:spPr>
          <a:xfrm>
            <a:off x="400050" y="1085850"/>
            <a:ext cx="914400" cy="47625"/>
          </a:xfrm>
          <a:prstGeom prst="rect">
            <a:avLst/>
          </a:prstGeom>
          <a:solidFill>
            <a:srgbClr val="6DCBF4"/>
          </a:solidFill>
          <a:ln w="0">
            <a:noFill/>
            <a:prstDash val="solid"/>
          </a:ln>
        </p:spPr>
      </p:sp>
      <p:sp>
        <p:nvSpPr>
          <p:cNvPr id="4" name="矩形 3"/>
          <p:cNvSpPr>
            <a:spLocks noGrp="1"/>
          </p:cNvSpPr>
          <p:nvPr/>
        </p:nvSpPr>
        <p:spPr>
          <a:xfrm>
            <a:off x="400050" y="6334125"/>
            <a:ext cx="1139190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5" name="矩形 4"/>
          <p:cNvSpPr>
            <a:spLocks noGrp="1"/>
          </p:cNvSpPr>
          <p:nvPr/>
        </p:nvSpPr>
        <p:spPr>
          <a:xfrm>
            <a:off x="10858500" y="6419850"/>
            <a:ext cx="93345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r">
              <a:lnSpc>
                <a:spcPct val="108000"/>
              </a:lnSpc>
              <a:buNone/>
              <a:def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defRPr>
            </a:pPr>
            <a:r>
              <a:rPr sz="900" b="0">
                <a:solidFill>
                  <a:srgbClr val="8C96A6"/>
                </a:solidFill>
                <a:latin typeface="微软雅黑"/>
                <a:ea typeface="微软雅黑"/>
                <a:cs typeface="微软雅黑"/>
              </a:rPr>
              <a:t>37 / 37</a:t>
            </a:r>
            <a:endParaRPr sz="900" b="0">
              <a:solidFill>
                <a:srgbClr val="8C96A6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6" name="矩形 5"/>
          <p:cNvSpPr>
            <a:spLocks noGrp="1"/>
          </p:cNvSpPr>
          <p:nvPr/>
        </p:nvSpPr>
        <p:spPr>
          <a:xfrm>
            <a:off x="704850" y="14668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7A62D3"/>
                </a:solidFill>
                <a:latin typeface="微软雅黑"/>
                <a:ea typeface="微软雅黑"/>
                <a:cs typeface="微软雅黑"/>
              </a:rPr>
              <a:t>01</a:t>
            </a:r>
            <a:endParaRPr sz="1275" b="1">
              <a:solidFill>
                <a:srgbClr val="7A62D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7" name="矩形 6"/>
          <p:cNvSpPr>
            <a:spLocks noGrp="1"/>
          </p:cNvSpPr>
          <p:nvPr/>
        </p:nvSpPr>
        <p:spPr>
          <a:xfrm>
            <a:off x="1466850" y="1362075"/>
            <a:ext cx="962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用户登录后，JWT 同时携带身份、角色和组织权限快照。</a:t>
            </a:r>
            <a:endParaRPr sz="17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8" name="矩形 7"/>
          <p:cNvSpPr>
            <a:spLocks noGrp="1"/>
          </p:cNvSpPr>
          <p:nvPr/>
        </p:nvSpPr>
        <p:spPr>
          <a:xfrm>
            <a:off x="704850" y="2000250"/>
            <a:ext cx="1038225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9" name="矩形 8"/>
          <p:cNvSpPr>
            <a:spLocks noGrp="1"/>
          </p:cNvSpPr>
          <p:nvPr/>
        </p:nvSpPr>
        <p:spPr>
          <a:xfrm>
            <a:off x="704850" y="22669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3D8DFF"/>
                </a:solidFill>
                <a:latin typeface="微软雅黑"/>
                <a:ea typeface="微软雅黑"/>
                <a:cs typeface="微软雅黑"/>
              </a:rPr>
              <a:t>02</a:t>
            </a:r>
            <a:endParaRPr sz="1275" b="1">
              <a:solidFill>
                <a:srgbClr val="3D8DFF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0" name="矩形 9"/>
          <p:cNvSpPr>
            <a:spLocks noGrp="1"/>
          </p:cNvSpPr>
          <p:nvPr/>
        </p:nvSpPr>
        <p:spPr>
          <a:xfrm>
            <a:off x="1466850" y="2162175"/>
            <a:ext cx="962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文件通过分片可靠上传，合并后由 Kafka 异步变成文本块和向量。</a:t>
            </a:r>
            <a:endParaRPr sz="17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1" name="矩形 10"/>
          <p:cNvSpPr>
            <a:spLocks noGrp="1"/>
          </p:cNvSpPr>
          <p:nvPr/>
        </p:nvSpPr>
        <p:spPr>
          <a:xfrm>
            <a:off x="704850" y="2800350"/>
            <a:ext cx="1038225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2" name="矩形 11"/>
          <p:cNvSpPr>
            <a:spLocks noGrp="1"/>
          </p:cNvSpPr>
          <p:nvPr/>
        </p:nvSpPr>
        <p:spPr>
          <a:xfrm>
            <a:off x="704850" y="30670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20A36A"/>
                </a:solidFill>
                <a:latin typeface="微软雅黑"/>
                <a:ea typeface="微软雅黑"/>
                <a:cs typeface="微软雅黑"/>
              </a:rPr>
              <a:t>03</a:t>
            </a:r>
            <a:endParaRPr sz="1275" b="1">
              <a:solidFill>
                <a:srgbClr val="20A36A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3" name="矩形 12"/>
          <p:cNvSpPr>
            <a:spLocks noGrp="1"/>
          </p:cNvSpPr>
          <p:nvPr/>
        </p:nvSpPr>
        <p:spPr>
          <a:xfrm>
            <a:off x="1466850" y="2962275"/>
            <a:ext cx="962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知识检索用 Query Embedding + KNN + AND 关键词 + BM25 重排。</a:t>
            </a:r>
            <a:endParaRPr sz="17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矩形 13"/>
          <p:cNvSpPr>
            <a:spLocks noGrp="1"/>
          </p:cNvSpPr>
          <p:nvPr/>
        </p:nvSpPr>
        <p:spPr>
          <a:xfrm>
            <a:off x="704850" y="3600450"/>
            <a:ext cx="1038225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5" name="矩形 14"/>
          <p:cNvSpPr>
            <a:spLocks noGrp="1"/>
          </p:cNvSpPr>
          <p:nvPr/>
        </p:nvSpPr>
        <p:spPr>
          <a:xfrm>
            <a:off x="704850" y="38671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D84B4B"/>
                </a:solidFill>
                <a:latin typeface="微软雅黑"/>
                <a:ea typeface="微软雅黑"/>
                <a:cs typeface="微软雅黑"/>
              </a:rPr>
              <a:t>04</a:t>
            </a:r>
            <a:endParaRPr sz="1275" b="1">
              <a:solidFill>
                <a:srgbClr val="D84B4B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6" name="矩形 15"/>
          <p:cNvSpPr>
            <a:spLocks noGrp="1"/>
          </p:cNvSpPr>
          <p:nvPr/>
        </p:nvSpPr>
        <p:spPr>
          <a:xfrm>
            <a:off x="1466850" y="3762375"/>
            <a:ext cx="962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权限条件在 MySQL 文件访问和 ES 文档块召回两处都必须生效。</a:t>
            </a:r>
            <a:endParaRPr sz="17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7" name="矩形 16"/>
          <p:cNvSpPr>
            <a:spLocks noGrp="1"/>
          </p:cNvSpPr>
          <p:nvPr/>
        </p:nvSpPr>
        <p:spPr>
          <a:xfrm>
            <a:off x="704850" y="4400550"/>
            <a:ext cx="1038225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18" name="矩形 17"/>
          <p:cNvSpPr>
            <a:spLocks noGrp="1"/>
          </p:cNvSpPr>
          <p:nvPr/>
        </p:nvSpPr>
        <p:spPr>
          <a:xfrm>
            <a:off x="704850" y="4667250"/>
            <a:ext cx="5715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27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defRPr>
            </a:pPr>
            <a:r>
              <a:rPr sz="1275" b="1">
                <a:solidFill>
                  <a:srgbClr val="D98B18"/>
                </a:solidFill>
                <a:latin typeface="微软雅黑"/>
                <a:ea typeface="微软雅黑"/>
                <a:cs typeface="微软雅黑"/>
              </a:rPr>
              <a:t>05</a:t>
            </a:r>
            <a:endParaRPr sz="1275" b="1">
              <a:solidFill>
                <a:srgbClr val="D98B18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9" name="矩形 18"/>
          <p:cNvSpPr>
            <a:spLocks noGrp="1"/>
          </p:cNvSpPr>
          <p:nvPr/>
        </p:nvSpPr>
        <p:spPr>
          <a:xfrm>
            <a:off x="1466850" y="4562475"/>
            <a:ext cx="9620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rmAutofit/>
          </a:bodyPr>
          <a:lstStyle/>
          <a:p>
            <a:pPr algn="l">
              <a:lnSpc>
                <a:spcPct val="108000"/>
              </a:lnSpc>
              <a:buNone/>
              <a:def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defRPr>
            </a:pPr>
            <a:r>
              <a:rPr sz="1725" b="1">
                <a:solidFill>
                  <a:srgbClr val="111827"/>
                </a:solidFill>
                <a:latin typeface="微软雅黑"/>
                <a:ea typeface="微软雅黑"/>
                <a:cs typeface="微软雅黑"/>
              </a:rPr>
              <a:t>聊天通过 WebSocket 串联历史、Top5 证据、Prompt、流式模型和可点击引用。</a:t>
            </a:r>
            <a:endParaRPr sz="1725" b="1">
              <a:solidFill>
                <a:srgbClr val="111827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20" name="矩形 19"/>
          <p:cNvSpPr>
            <a:spLocks noGrp="1"/>
          </p:cNvSpPr>
          <p:nvPr/>
        </p:nvSpPr>
        <p:spPr>
          <a:xfrm>
            <a:off x="704850" y="5200650"/>
            <a:ext cx="10382250" cy="9525"/>
          </a:xfrm>
          <a:prstGeom prst="rect">
            <a:avLst/>
          </a:prstGeom>
          <a:solidFill>
            <a:srgbClr val="D7DDE5"/>
          </a:solidFill>
          <a:ln w="0">
            <a:noFill/>
            <a:prstDash val="solid"/>
          </a:ln>
        </p:spPr>
      </p:sp>
      <p:sp>
        <p:nvSpPr>
          <p:cNvPr id="21" name="圆角矩形 20"/>
          <p:cNvSpPr>
            <a:spLocks noGrp="1"/>
          </p:cNvSpPr>
          <p:nvPr/>
        </p:nvSpPr>
        <p:spPr>
          <a:xfrm>
            <a:off x="400050" y="5638800"/>
            <a:ext cx="11391900" cy="400050"/>
          </a:xfrm>
          <a:prstGeom prst="roundRect">
            <a:avLst>
              <a:gd name="adj" fmla="val 28571"/>
            </a:avLst>
          </a:prstGeom>
          <a:solidFill>
            <a:srgbClr val="EAF7FD"/>
          </a:solidFill>
          <a:ln w="0">
            <a:noFill/>
            <a:prstDash val="solid"/>
          </a:ln>
        </p:spPr>
      </p:sp>
      <p:sp>
        <p:nvSpPr>
          <p:cNvPr id="22" name="矩形 21"/>
          <p:cNvSpPr>
            <a:spLocks noGrp="1"/>
          </p:cNvSpPr>
          <p:nvPr/>
        </p:nvSpPr>
        <p:spPr>
          <a:xfrm>
            <a:off x="400050" y="5638800"/>
            <a:ext cx="57150" cy="400050"/>
          </a:xfrm>
          <a:prstGeom prst="rect">
            <a:avLst/>
          </a:prstGeom>
          <a:solidFill>
            <a:srgbClr val="1689C8"/>
          </a:solidFill>
          <a:ln w="0">
            <a:noFill/>
            <a:prstDash val="solid"/>
          </a:ln>
        </p:spPr>
      </p:sp>
      <p:sp>
        <p:nvSpPr>
          <p:cNvPr id="23" name="矩形 22"/>
          <p:cNvSpPr>
            <a:spLocks noGrp="1"/>
          </p:cNvSpPr>
          <p:nvPr/>
        </p:nvSpPr>
        <p:spPr>
          <a:xfrm>
            <a:off x="571500" y="5724525"/>
            <a:ext cx="11049000" cy="23812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rmAutofit/>
          </a:bodyPr>
          <a:lstStyle/>
          <a:p>
            <a:pPr algn="l">
              <a:lnSpc>
                <a:spcPct val="108000"/>
              </a:lnSpc>
              <a:buNone/>
              <a:def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defRPr>
            </a:pPr>
            <a:r>
              <a:rPr sz="1165" b="1">
                <a:solidFill>
                  <a:srgbClr val="1689C8"/>
                </a:solidFill>
                <a:latin typeface="微软雅黑"/>
                <a:ea typeface="微软雅黑"/>
                <a:cs typeface="微软雅黑"/>
              </a:rPr>
              <a:t>下一步建议：亲自完成“两个用户 + 一个私有 PDF + 一次引用点击”的最小闭环，并按第 36 页逐项留证。</a:t>
            </a:r>
            <a:endParaRPr sz="1165" b="1">
              <a:solidFill>
                <a:srgbClr val="1689C8"/>
              </a:solidFill>
              <a:latin typeface="微软雅黑"/>
              <a:ea typeface="微软雅黑"/>
              <a:cs typeface="微软雅黑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20493</Words>
  <Application>WPS 演示</Application>
  <PresentationFormat>Converted Presentation</PresentationFormat>
  <Paragraphs>1912</Paragraphs>
  <Slides>37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37</vt:i4>
      </vt:variant>
    </vt:vector>
  </HeadingPairs>
  <TitlesOfParts>
    <vt:vector size="52" baseType="lpstr">
      <vt:lpstr>Arial</vt:lpstr>
      <vt:lpstr>宋体</vt:lpstr>
      <vt:lpstr>Wingdings</vt:lpstr>
      <vt:lpstr>微软雅黑</vt:lpstr>
      <vt:lpstr>文泉驿正黑</vt:lpstr>
      <vt:lpstr>Consolas</vt:lpstr>
      <vt:lpstr>微软雅黑</vt:lpstr>
      <vt:lpstr>宋体</vt:lpstr>
      <vt:lpstr>Arial Unicode MS</vt:lpstr>
      <vt:lpstr>Nimbus Roman No9 L</vt:lpstr>
      <vt:lpstr>Noto Serif CJK SC</vt:lpstr>
      <vt:lpstr>Calibri</vt:lpstr>
      <vt:lpstr>Gubbi</vt:lpstr>
      <vt:lpstr>方正仿宋_GBK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符奥宇</cp:lastModifiedBy>
  <cp:revision>1</cp:revision>
  <dcterms:created xsi:type="dcterms:W3CDTF">2026-07-24T11:24:12Z</dcterms:created>
  <dcterms:modified xsi:type="dcterms:W3CDTF">2026-07-24T11:24:12Z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312CB1454C32825E5C4B636A4AC9D82D_42</vt:lpwstr>
  </property>
  <property fmtid="{D5CDD505-2E9C-101B-9397-08002B2CF9AE}" pid="3" name="KSOProductBuildVer">
    <vt:lpwstr>2052-12.1.2.23578</vt:lpwstr>
  </property>
</Properties>
</file>